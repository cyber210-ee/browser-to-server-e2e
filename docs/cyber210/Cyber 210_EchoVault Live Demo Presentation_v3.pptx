
<file path=[Content_Types].xml><?xml version="1.0" encoding="utf-8"?>
<Types xmlns="http://schemas.openxmlformats.org/package/2006/content-types">
  <Default Extension="fntdata" ContentType="application/x-fontdata"/>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9" r:id="rId1"/>
  </p:sldMasterIdLst>
  <p:notesMasterIdLst>
    <p:notesMasterId r:id="rId13"/>
  </p:notesMasterIdLst>
  <p:sldIdLst>
    <p:sldId id="256" r:id="rId2"/>
    <p:sldId id="257" r:id="rId3"/>
    <p:sldId id="258" r:id="rId4"/>
    <p:sldId id="259" r:id="rId5"/>
    <p:sldId id="260" r:id="rId6"/>
    <p:sldId id="267" r:id="rId7"/>
    <p:sldId id="262" r:id="rId8"/>
    <p:sldId id="263" r:id="rId9"/>
    <p:sldId id="264" r:id="rId10"/>
    <p:sldId id="265" r:id="rId11"/>
    <p:sldId id="266" r:id="rId12"/>
  </p:sldIdLst>
  <p:sldSz cx="12192000" cy="6858000"/>
  <p:notesSz cx="6858000" cy="9144000"/>
  <p:embeddedFontLst>
    <p:embeddedFont>
      <p:font typeface="Helvetica Neue" panose="020B0604020202020204" charset="0"/>
      <p:regular r:id="rId14"/>
      <p:bold r:id="rId15"/>
      <p:italic r:id="rId16"/>
      <p:boldItalic r:id="rId1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0678" autoAdjust="0"/>
  </p:normalViewPr>
  <p:slideViewPr>
    <p:cSldViewPr snapToGrid="0">
      <p:cViewPr>
        <p:scale>
          <a:sx n="73" d="100"/>
          <a:sy n="73" d="100"/>
        </p:scale>
        <p:origin x="54" y="61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 name="Google Shape;6;n"/>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lvl1pPr>
            <a:lvl2pPr marL="914400" lvl="1" indent="-228600">
              <a:spcBef>
                <a:spcPts val="0"/>
              </a:spcBef>
              <a:spcAft>
                <a:spcPts val="0"/>
              </a:spcAft>
              <a:buSzPts val="1400"/>
              <a:buNone/>
              <a:defRPr sz="1800"/>
            </a:lvl2pPr>
            <a:lvl3pPr marL="1371600" lvl="2" indent="-228600">
              <a:spcBef>
                <a:spcPts val="0"/>
              </a:spcBef>
              <a:spcAft>
                <a:spcPts val="0"/>
              </a:spcAft>
              <a:buSzPts val="1400"/>
              <a:buNone/>
              <a:defRPr sz="1800"/>
            </a:lvl3pPr>
            <a:lvl4pPr marL="1828800" lvl="3" indent="-228600">
              <a:spcBef>
                <a:spcPts val="0"/>
              </a:spcBef>
              <a:spcAft>
                <a:spcPts val="0"/>
              </a:spcAft>
              <a:buSzPts val="1400"/>
              <a:buNone/>
              <a:defRPr sz="1800"/>
            </a:lvl4pPr>
            <a:lvl5pPr marL="2286000" lvl="4" indent="-228600">
              <a:spcBef>
                <a:spcPts val="0"/>
              </a:spcBef>
              <a:spcAft>
                <a:spcPts val="0"/>
              </a:spcAft>
              <a:buSzPts val="1400"/>
              <a:buNone/>
              <a:defRPr sz="1800"/>
            </a:lvl5pPr>
            <a:lvl6pPr marL="2743200" lvl="5" indent="-228600">
              <a:spcBef>
                <a:spcPts val="0"/>
              </a:spcBef>
              <a:spcAft>
                <a:spcPts val="0"/>
              </a:spcAft>
              <a:buSzPts val="1400"/>
              <a:buNone/>
              <a:defRPr sz="1800"/>
            </a:lvl6pPr>
            <a:lvl7pPr marL="3200400" lvl="6" indent="-228600">
              <a:spcBef>
                <a:spcPts val="0"/>
              </a:spcBef>
              <a:spcAft>
                <a:spcPts val="0"/>
              </a:spcAft>
              <a:buSzPts val="1400"/>
              <a:buNone/>
              <a:defRPr sz="1800"/>
            </a:lvl7pPr>
            <a:lvl8pPr marL="3657600" lvl="7" indent="-228600">
              <a:spcBef>
                <a:spcPts val="0"/>
              </a:spcBef>
              <a:spcAft>
                <a:spcPts val="0"/>
              </a:spcAft>
              <a:buSzPts val="1400"/>
              <a:buNone/>
              <a:defRPr sz="1800"/>
            </a:lvl8pPr>
            <a:lvl9pPr marL="4114800" lvl="8" indent="-228600">
              <a:spcBef>
                <a:spcPts val="0"/>
              </a:spcBef>
              <a:spcAft>
                <a:spcPts val="0"/>
              </a:spcAft>
              <a:buSzPts val="1400"/>
              <a:buNone/>
              <a:defRPr sz="1800"/>
            </a:lvl9pPr>
          </a:lstStyle>
          <a:p>
            <a:endParaRPr/>
          </a:p>
        </p:txBody>
      </p:sp>
      <p:sp>
        <p:nvSpPr>
          <p:cNvPr id="7" name="Google Shape;7;n"/>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
        <p:cNvGrpSpPr/>
        <p:nvPr/>
      </p:nvGrpSpPr>
      <p:grpSpPr>
        <a:xfrm>
          <a:off x="0" y="0"/>
          <a:ext cx="0" cy="0"/>
          <a:chOff x="0" y="0"/>
          <a:chExt cx="0" cy="0"/>
        </a:xfrm>
      </p:grpSpPr>
      <p:sp>
        <p:nvSpPr>
          <p:cNvPr id="12" name="Google Shape;12;p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 name="Google Shape;13;p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dirty="0"/>
              <a:t>Timing: 0:40–0:50.</a:t>
            </a:r>
            <a:endParaRPr dirty="0"/>
          </a:p>
          <a:p>
            <a:pPr marL="0" lvl="0" indent="0" algn="l" rtl="0">
              <a:spcBef>
                <a:spcPts val="0"/>
              </a:spcBef>
              <a:spcAft>
                <a:spcPts val="0"/>
              </a:spcAft>
              <a:buNone/>
            </a:pPr>
            <a:r>
              <a:rPr lang="en-US" sz="1200" dirty="0"/>
              <a:t>Open with the project claim, not the implementation details: TLS can terminate before the intended application process, so plaintext may appear inside trusted infrastructure.</a:t>
            </a:r>
            <a:endParaRPr dirty="0"/>
          </a:p>
          <a:p>
            <a:pPr marL="0" lvl="0" indent="0" algn="l" rtl="0">
              <a:spcBef>
                <a:spcPts val="0"/>
              </a:spcBef>
              <a:spcAft>
                <a:spcPts val="0"/>
              </a:spcAft>
              <a:buNone/>
            </a:pPr>
            <a:r>
              <a:rPr lang="en-US" sz="1200" dirty="0"/>
              <a:t>E2E LLM Prompt adds authenticated </a:t>
            </a:r>
            <a:r>
              <a:rPr lang="en-US" sz="1200" dirty="0" err="1"/>
              <a:t>HPKE</a:t>
            </a:r>
            <a:r>
              <a:rPr lang="en-US" sz="1200" dirty="0"/>
              <a:t> inside TLS to move the plaintext boundary to the intended echo-server process.</a:t>
            </a:r>
            <a:endParaRPr dirty="0"/>
          </a:p>
          <a:p>
            <a:pPr marL="0" lvl="0" indent="0" algn="l" rtl="0">
              <a:spcBef>
                <a:spcPts val="0"/>
              </a:spcBef>
              <a:spcAft>
                <a:spcPts val="0"/>
              </a:spcAft>
              <a:buNone/>
            </a:pPr>
            <a:r>
              <a:rPr lang="en-US" sz="1200" dirty="0"/>
              <a:t>Preview the structure: brief problem and architecture, then the live comparison and red-team findings.</a:t>
            </a:r>
            <a:endParaRPr sz="1200" dirty="0"/>
          </a:p>
          <a:p>
            <a:pPr marL="0" lvl="0" indent="0" algn="l" rtl="0">
              <a:spcBef>
                <a:spcPts val="0"/>
              </a:spcBef>
              <a:spcAft>
                <a:spcPts val="0"/>
              </a:spcAft>
              <a:buNone/>
            </a:pPr>
            <a:endParaRPr dirty="0"/>
          </a:p>
          <a:p>
            <a:pPr marL="0" lvl="0" indent="0" algn="l" rtl="0">
              <a:spcBef>
                <a:spcPts val="0"/>
              </a:spcBef>
              <a:spcAft>
                <a:spcPts val="0"/>
              </a:spcAft>
              <a:buNone/>
            </a:pPr>
            <a:r>
              <a:rPr lang="en-US" dirty="0"/>
              <a:t>Speaker script:</a:t>
            </a:r>
            <a:endParaRPr dirty="0"/>
          </a:p>
          <a:p>
            <a:pPr marL="0" lvl="0" indent="0" algn="l" rtl="0">
              <a:spcBef>
                <a:spcPts val="0"/>
              </a:spcBef>
              <a:spcAft>
                <a:spcPts val="0"/>
              </a:spcAft>
              <a:buNone/>
            </a:pPr>
            <a:endParaRPr dirty="0"/>
          </a:p>
        </p:txBody>
      </p:sp>
      <p:sp>
        <p:nvSpPr>
          <p:cNvPr id="14" name="Google Shape;14;p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
        <p:cNvGrpSpPr/>
        <p:nvPr/>
      </p:nvGrpSpPr>
      <p:grpSpPr>
        <a:xfrm>
          <a:off x="0" y="0"/>
          <a:ext cx="0" cy="0"/>
          <a:chOff x="0" y="0"/>
          <a:chExt cx="0" cy="0"/>
        </a:xfrm>
      </p:grpSpPr>
      <p:sp>
        <p:nvSpPr>
          <p:cNvPr id="37" name="Google Shape;37;p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8" name="Google Shape;38;p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t>Timing: 1:10–1:20.</a:t>
            </a:r>
            <a:endParaRPr/>
          </a:p>
          <a:p>
            <a:pPr marL="0" lvl="0" indent="0" algn="l" rtl="0">
              <a:spcBef>
                <a:spcPts val="0"/>
              </a:spcBef>
              <a:spcAft>
                <a:spcPts val="0"/>
              </a:spcAft>
              <a:buNone/>
            </a:pPr>
            <a:r>
              <a:rPr lang="en-US" sz="1200"/>
              <a:t>Clarify the observer positions. A passive sniffer sees encrypted TLS records; TLS already addresses that case. A TLS-terminating proxy is different because it legitimately decrypts the connection.</a:t>
            </a:r>
            <a:endParaRPr/>
          </a:p>
          <a:p>
            <a:pPr marL="0" lvl="0" indent="0" algn="l" rtl="0">
              <a:spcBef>
                <a:spcPts val="0"/>
              </a:spcBef>
              <a:spcAft>
                <a:spcPts val="0"/>
              </a:spcAft>
              <a:buNone/>
            </a:pPr>
            <a:r>
              <a:rPr lang="en-US" sz="1200"/>
              <a:t>The project focuses on the second observer: infrastructure that terminates or receives traffic after TLS termination but is not the process intended to read the prompt.</a:t>
            </a:r>
            <a:endParaRPr/>
          </a:p>
          <a:p>
            <a:pPr marL="0" lvl="0" indent="0" algn="l" rtl="0">
              <a:spcBef>
                <a:spcPts val="0"/>
              </a:spcBef>
              <a:spcAft>
                <a:spcPts val="0"/>
              </a:spcAft>
              <a:buNone/>
            </a:pPr>
            <a:r>
              <a:rPr lang="en-US" sz="1200"/>
              <a:t>State the research question exactly, then transition to the design.</a:t>
            </a:r>
            <a:endParaRPr sz="1200"/>
          </a:p>
          <a:p>
            <a:pPr marL="0" lvl="0" indent="0" algn="l" rtl="0">
              <a:spcBef>
                <a:spcPts val="0"/>
              </a:spcBef>
              <a:spcAft>
                <a:spcPts val="0"/>
              </a:spcAft>
              <a:buNone/>
            </a:pPr>
            <a:endParaRPr/>
          </a:p>
          <a:p>
            <a:pPr marL="0" lvl="0" indent="0" algn="l" rtl="0">
              <a:spcBef>
                <a:spcPts val="0"/>
              </a:spcBef>
              <a:spcAft>
                <a:spcPts val="0"/>
              </a:spcAft>
              <a:buClr>
                <a:schemeClr val="dk1"/>
              </a:buClr>
              <a:buFont typeface="Arial"/>
              <a:buNone/>
            </a:pPr>
            <a:r>
              <a:rPr lang="en-US">
                <a:solidFill>
                  <a:schemeClr val="dk1"/>
                </a:solidFill>
              </a:rPr>
              <a:t>Speaker script:</a:t>
            </a:r>
            <a:endParaRPr/>
          </a:p>
        </p:txBody>
      </p:sp>
      <p:sp>
        <p:nvSpPr>
          <p:cNvPr id="39" name="Google Shape;39;p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p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7" name="Google Shape;67;p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t>Timing: 1:25–1:40.</a:t>
            </a:r>
            <a:endParaRPr/>
          </a:p>
          <a:p>
            <a:pPr marL="0" lvl="0" indent="0" algn="l" rtl="0">
              <a:spcBef>
                <a:spcPts val="0"/>
              </a:spcBef>
              <a:spcAft>
                <a:spcPts val="0"/>
              </a:spcAft>
              <a:buNone/>
            </a:pPr>
            <a:r>
              <a:rPr lang="en-US" sz="1200"/>
              <a:t>Walk left to right. The browser seals the prompt before the WebSocket frame crosses the TLS-terminating proxy. The FastAPI process holds the HPKE recipient private key and intentionally decrypts the prompt.</a:t>
            </a:r>
            <a:endParaRPr/>
          </a:p>
          <a:p>
            <a:pPr marL="0" lvl="0" indent="0" algn="l" rtl="0">
              <a:spcBef>
                <a:spcPts val="0"/>
              </a:spcBef>
              <a:spcAft>
                <a:spcPts val="0"/>
              </a:spcAft>
              <a:buNone/>
            </a:pPr>
            <a:r>
              <a:rPr lang="en-US" sz="1200"/>
              <a:t>Define E2E precisely for this project: browser to intended echo-server process, not human-to-human messaging encryption.</a:t>
            </a:r>
            <a:endParaRPr/>
          </a:p>
          <a:p>
            <a:pPr marL="0" lvl="0" indent="0" algn="l" rtl="0">
              <a:spcBef>
                <a:spcPts val="0"/>
              </a:spcBef>
              <a:spcAft>
                <a:spcPts val="0"/>
              </a:spcAft>
              <a:buNone/>
            </a:pPr>
            <a:r>
              <a:rPr lang="en-US" sz="1200"/>
              <a:t>Mention only the cryptographic details needed for Q&amp;A: authenticated HPKE with X25519, HKDF-SHA-256, ChaCha20-Poly1305; the handshake uses a pinned Ed25519 identity; session, direction, frame type, and sequence are bound into associated data.</a:t>
            </a:r>
            <a:endParaRPr/>
          </a:p>
          <a:p>
            <a:pPr marL="0" lvl="0" indent="0" algn="l" rtl="0">
              <a:spcBef>
                <a:spcPts val="0"/>
              </a:spcBef>
              <a:spcAft>
                <a:spcPts val="0"/>
              </a:spcAft>
              <a:buNone/>
            </a:pPr>
            <a:r>
              <a:rPr lang="en-US" sz="1200"/>
              <a:t>The failure policy tears down the link after authentication or ordering faults. This favors confidentiality and integrity over availability.</a:t>
            </a:r>
            <a:endParaRPr sz="1200"/>
          </a:p>
          <a:p>
            <a:pPr marL="0" lvl="0" indent="0" algn="l" rtl="0">
              <a:spcBef>
                <a:spcPts val="0"/>
              </a:spcBef>
              <a:spcAft>
                <a:spcPts val="0"/>
              </a:spcAft>
              <a:buNone/>
            </a:pPr>
            <a:endParaRPr/>
          </a:p>
          <a:p>
            <a:pPr marL="0" lvl="0" indent="0" algn="l" rtl="0">
              <a:spcBef>
                <a:spcPts val="0"/>
              </a:spcBef>
              <a:spcAft>
                <a:spcPts val="0"/>
              </a:spcAft>
              <a:buNone/>
            </a:pPr>
            <a:r>
              <a:rPr lang="en-US"/>
              <a:t>Add parallel channel- source code delivery channel</a:t>
            </a:r>
            <a:endParaRPr/>
          </a:p>
          <a:p>
            <a:pPr marL="0" lvl="0" indent="0" algn="l" rtl="0">
              <a:spcBef>
                <a:spcPts val="0"/>
              </a:spcBef>
              <a:spcAft>
                <a:spcPts val="0"/>
              </a:spcAft>
              <a:buNone/>
            </a:pPr>
            <a:endParaRPr/>
          </a:p>
          <a:p>
            <a:pPr marL="0" lvl="0" indent="0" algn="l" rtl="0">
              <a:spcBef>
                <a:spcPts val="0"/>
              </a:spcBef>
              <a:spcAft>
                <a:spcPts val="0"/>
              </a:spcAft>
              <a:buClr>
                <a:schemeClr val="dk1"/>
              </a:buClr>
              <a:buFont typeface="Arial"/>
              <a:buNone/>
            </a:pPr>
            <a:r>
              <a:rPr lang="en-US">
                <a:solidFill>
                  <a:schemeClr val="dk1"/>
                </a:solidFill>
              </a:rPr>
              <a:t>Speaker script:</a:t>
            </a:r>
            <a:endParaRPr/>
          </a:p>
        </p:txBody>
      </p:sp>
      <p:sp>
        <p:nvSpPr>
          <p:cNvPr id="68" name="Google Shape;68;p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3" name="Google Shape;103;p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t>Timing: 1:10–1:20.</a:t>
            </a:r>
            <a:endParaRPr/>
          </a:p>
          <a:p>
            <a:pPr marL="0" lvl="0" indent="0" algn="l" rtl="0">
              <a:spcBef>
                <a:spcPts val="0"/>
              </a:spcBef>
              <a:spcAft>
                <a:spcPts val="0"/>
              </a:spcAft>
              <a:buNone/>
            </a:pPr>
            <a:r>
              <a:rPr lang="en-US" sz="1200"/>
              <a:t>Use this slide to prevent overclaiming before the demo. The project protects the data channel against a defined intermediary position and active frame manipulation.</a:t>
            </a:r>
            <a:endParaRPr/>
          </a:p>
          <a:p>
            <a:pPr marL="0" lvl="0" indent="0" algn="l" rtl="0">
              <a:spcBef>
                <a:spcPts val="0"/>
              </a:spcBef>
              <a:spcAft>
                <a:spcPts val="0"/>
              </a:spcAft>
              <a:buNone/>
            </a:pPr>
            <a:r>
              <a:rPr lang="en-US" sz="1200"/>
              <a:t>It does not protect a malicious browser, compromised frontend code, the intended server after decryption, or privileged host access.</a:t>
            </a:r>
            <a:endParaRPr/>
          </a:p>
          <a:p>
            <a:pPr marL="0" lvl="0" indent="0" algn="l" rtl="0">
              <a:spcBef>
                <a:spcPts val="0"/>
              </a:spcBef>
              <a:spcAft>
                <a:spcPts val="0"/>
              </a:spcAft>
              <a:buNone/>
            </a:pPr>
            <a:r>
              <a:rPr lang="en-US" sz="1200"/>
              <a:t>Call out code delivery as the most important residual risk: if the attacker controls the JavaScript that creates the ciphertext, they can read or copy the prompt before encryption.</a:t>
            </a:r>
            <a:endParaRPr/>
          </a:p>
          <a:p>
            <a:pPr marL="0" lvl="0" indent="0" algn="l" rtl="0">
              <a:spcBef>
                <a:spcPts val="0"/>
              </a:spcBef>
              <a:spcAft>
                <a:spcPts val="0"/>
              </a:spcAft>
              <a:buNone/>
            </a:pPr>
            <a:r>
              <a:rPr lang="en-US" sz="1200"/>
              <a:t>Transition: the live demo tests exactly the in-scope boundary.</a:t>
            </a:r>
            <a:endParaRPr sz="1200"/>
          </a:p>
          <a:p>
            <a:pPr marL="0" lvl="0" indent="0" algn="l" rtl="0">
              <a:spcBef>
                <a:spcPts val="0"/>
              </a:spcBef>
              <a:spcAft>
                <a:spcPts val="0"/>
              </a:spcAft>
              <a:buNone/>
            </a:pPr>
            <a:endParaRPr/>
          </a:p>
          <a:p>
            <a:pPr marL="0" lvl="0" indent="0" algn="l" rtl="0">
              <a:spcBef>
                <a:spcPts val="0"/>
              </a:spcBef>
              <a:spcAft>
                <a:spcPts val="0"/>
              </a:spcAft>
              <a:buClr>
                <a:schemeClr val="dk1"/>
              </a:buClr>
              <a:buFont typeface="Arial"/>
              <a:buNone/>
            </a:pPr>
            <a:r>
              <a:rPr lang="en-US">
                <a:solidFill>
                  <a:schemeClr val="dk1"/>
                </a:solidFill>
              </a:rPr>
              <a:t>Speaker script:</a:t>
            </a:r>
            <a:endParaRPr>
              <a:solidFill>
                <a:schemeClr val="dk1"/>
              </a:solidFill>
            </a:endParaRPr>
          </a:p>
          <a:p>
            <a:pPr marL="0" lvl="0" indent="0" algn="l" rtl="0">
              <a:spcBef>
                <a:spcPts val="0"/>
              </a:spcBef>
              <a:spcAft>
                <a:spcPts val="0"/>
              </a:spcAft>
              <a:buClr>
                <a:schemeClr val="dk1"/>
              </a:buClr>
              <a:buFont typeface="Arial"/>
              <a:buNone/>
            </a:pPr>
            <a:r>
              <a:rPr lang="en-US">
                <a:solidFill>
                  <a:schemeClr val="dk1"/>
                </a:solidFill>
              </a:rPr>
              <a:t>Why doing this</a:t>
            </a:r>
            <a:br>
              <a:rPr lang="en-US">
                <a:solidFill>
                  <a:schemeClr val="dk1"/>
                </a:solidFill>
              </a:rPr>
            </a:br>
            <a:r>
              <a:rPr lang="en-US">
                <a:solidFill>
                  <a:schemeClr val="dk1"/>
                </a:solidFill>
              </a:rPr>
              <a:t>Goal is first step in confidential computing</a:t>
            </a:r>
            <a:endParaRPr>
              <a:solidFill>
                <a:schemeClr val="dk1"/>
              </a:solidFill>
            </a:endParaRPr>
          </a:p>
        </p:txBody>
      </p:sp>
      <p:sp>
        <p:nvSpPr>
          <p:cNvPr id="104" name="Google Shape;104;p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3" name="Google Shape;123;p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t>Timing: 5:00–6:00. </a:t>
            </a:r>
            <a:r>
              <a:rPr lang="en-US" sz="1500" b="1"/>
              <a:t>This is the centerpiece.</a:t>
            </a:r>
            <a:endParaRPr sz="1500" b="1"/>
          </a:p>
          <a:p>
            <a:pPr marL="0" lvl="0" indent="0" algn="l" rtl="0">
              <a:spcBef>
                <a:spcPts val="0"/>
              </a:spcBef>
              <a:spcAft>
                <a:spcPts val="0"/>
              </a:spcAft>
              <a:buNone/>
            </a:pPr>
            <a:r>
              <a:rPr lang="en-US" sz="1200"/>
              <a:t>Before each test, confirm the browser baseline is fully healthy: pin verified, connected, and encrypted/all green. Use fake prompt data only.</a:t>
            </a:r>
            <a:endParaRPr/>
          </a:p>
          <a:p>
            <a:pPr marL="0" lvl="0" indent="0" algn="l" rtl="0">
              <a:spcBef>
                <a:spcPts val="0"/>
              </a:spcBef>
              <a:spcAft>
                <a:spcPts val="0"/>
              </a:spcAft>
              <a:buNone/>
            </a:pPr>
            <a:r>
              <a:rPr lang="en-US" sz="1200"/>
              <a:t>Act 1 — baseline (about 30–45 seconds): show the browser state and identify the browser, mitmproxy, and FastAPI server views.</a:t>
            </a:r>
            <a:endParaRPr/>
          </a:p>
          <a:p>
            <a:pPr marL="0" lvl="0" indent="0" algn="l" rtl="0">
              <a:spcBef>
                <a:spcPts val="0"/>
              </a:spcBef>
              <a:spcAft>
                <a:spcPts val="0"/>
              </a:spcAft>
              <a:buNone/>
            </a:pPr>
            <a:endParaRPr/>
          </a:p>
          <a:p>
            <a:pPr marL="0" lvl="0" indent="0" algn="l" rtl="0">
              <a:spcBef>
                <a:spcPts val="0"/>
              </a:spcBef>
              <a:spcAft>
                <a:spcPts val="0"/>
              </a:spcAft>
              <a:buClr>
                <a:schemeClr val="dk1"/>
              </a:buClr>
              <a:buFont typeface="Arial"/>
              <a:buNone/>
            </a:pPr>
            <a:r>
              <a:rPr lang="en-US">
                <a:solidFill>
                  <a:schemeClr val="dk1"/>
                </a:solidFill>
              </a:rPr>
              <a:t>Speaker script:</a:t>
            </a:r>
            <a:endParaRPr/>
          </a:p>
        </p:txBody>
      </p:sp>
      <p:sp>
        <p:nvSpPr>
          <p:cNvPr id="124" name="Google Shape;124;p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a:extLst>
            <a:ext uri="{FF2B5EF4-FFF2-40B4-BE49-F238E27FC236}">
              <a16:creationId xmlns:a16="http://schemas.microsoft.com/office/drawing/2014/main" id="{82D1C7C9-C817-BA73-C78C-AC244B6C8CF5}"/>
            </a:ext>
          </a:extLst>
        </p:cNvPr>
        <p:cNvGrpSpPr/>
        <p:nvPr/>
      </p:nvGrpSpPr>
      <p:grpSpPr>
        <a:xfrm>
          <a:off x="0" y="0"/>
          <a:ext cx="0" cy="0"/>
          <a:chOff x="0" y="0"/>
          <a:chExt cx="0" cy="0"/>
        </a:xfrm>
      </p:grpSpPr>
      <p:sp>
        <p:nvSpPr>
          <p:cNvPr id="122" name="Google Shape;122;p5:notes">
            <a:extLst>
              <a:ext uri="{FF2B5EF4-FFF2-40B4-BE49-F238E27FC236}">
                <a16:creationId xmlns:a16="http://schemas.microsoft.com/office/drawing/2014/main" id="{A00742F3-DAAC-F86D-2607-AAF3DE22FD5F}"/>
              </a:ext>
            </a:extLst>
          </p:cNvPr>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3" name="Google Shape;123;p5:notes">
            <a:extLst>
              <a:ext uri="{FF2B5EF4-FFF2-40B4-BE49-F238E27FC236}">
                <a16:creationId xmlns:a16="http://schemas.microsoft.com/office/drawing/2014/main" id="{5778ADAC-BEBA-D9CB-0D4B-BE080F1635CB}"/>
              </a:ext>
            </a:extLst>
          </p:cNvPr>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t>Timing: 5:00–6:00. </a:t>
            </a:r>
            <a:r>
              <a:rPr lang="en-US" sz="1500" b="1"/>
              <a:t>This is the centerpiece.</a:t>
            </a:r>
            <a:endParaRPr sz="1500" b="1"/>
          </a:p>
          <a:p>
            <a:pPr marL="0" lvl="0" indent="0" algn="l" rtl="0">
              <a:spcBef>
                <a:spcPts val="0"/>
              </a:spcBef>
              <a:spcAft>
                <a:spcPts val="0"/>
              </a:spcAft>
              <a:buNone/>
            </a:pPr>
            <a:r>
              <a:rPr lang="en-US" sz="1200"/>
              <a:t>Before each test, confirm the browser baseline is fully healthy: pin verified, connected, and encrypted/all green. Use fake prompt data only.</a:t>
            </a:r>
            <a:endParaRPr/>
          </a:p>
          <a:p>
            <a:pPr marL="0" lvl="0" indent="0" algn="l" rtl="0">
              <a:spcBef>
                <a:spcPts val="0"/>
              </a:spcBef>
              <a:spcAft>
                <a:spcPts val="0"/>
              </a:spcAft>
              <a:buNone/>
            </a:pPr>
            <a:r>
              <a:rPr lang="en-US" sz="1200"/>
              <a:t>Act 1 — baseline (about 30–45 seconds): show the browser state and identify the browser, mitmproxy, and FastAPI server views.</a:t>
            </a:r>
            <a:endParaRPr/>
          </a:p>
          <a:p>
            <a:pPr marL="0" lvl="0" indent="0" algn="l" rtl="0">
              <a:spcBef>
                <a:spcPts val="0"/>
              </a:spcBef>
              <a:spcAft>
                <a:spcPts val="0"/>
              </a:spcAft>
              <a:buNone/>
            </a:pPr>
            <a:endParaRPr/>
          </a:p>
          <a:p>
            <a:pPr marL="0" lvl="0" indent="0" algn="l" rtl="0">
              <a:spcBef>
                <a:spcPts val="0"/>
              </a:spcBef>
              <a:spcAft>
                <a:spcPts val="0"/>
              </a:spcAft>
              <a:buClr>
                <a:schemeClr val="dk1"/>
              </a:buClr>
              <a:buFont typeface="Arial"/>
              <a:buNone/>
            </a:pPr>
            <a:r>
              <a:rPr lang="en-US">
                <a:solidFill>
                  <a:schemeClr val="dk1"/>
                </a:solidFill>
              </a:rPr>
              <a:t>Speaker script:</a:t>
            </a:r>
            <a:endParaRPr/>
          </a:p>
        </p:txBody>
      </p:sp>
      <p:sp>
        <p:nvSpPr>
          <p:cNvPr id="124" name="Google Shape;124;p5:notes">
            <a:extLst>
              <a:ext uri="{FF2B5EF4-FFF2-40B4-BE49-F238E27FC236}">
                <a16:creationId xmlns:a16="http://schemas.microsoft.com/office/drawing/2014/main" id="{47ADEEF1-22A2-199B-9958-B13E9A658E66}"/>
              </a:ext>
            </a:extLst>
          </p:cNvPr>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800">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6116154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g3f541a6bd30_0_5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6" name="Google Shape;166;g3f541a6bd30_0_5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dirty="0"/>
              <a:t>Timing: 5:00–6:00. </a:t>
            </a:r>
            <a:r>
              <a:rPr lang="en-US" sz="1500" b="1" dirty="0"/>
              <a:t>This is the centerpiece.</a:t>
            </a:r>
            <a:endParaRPr sz="1500" b="1" dirty="0"/>
          </a:p>
          <a:p>
            <a:pPr marL="0" lvl="0" indent="0" algn="l" rtl="0">
              <a:spcBef>
                <a:spcPts val="0"/>
              </a:spcBef>
              <a:spcAft>
                <a:spcPts val="0"/>
              </a:spcAft>
              <a:buNone/>
            </a:pPr>
            <a:endParaRPr dirty="0"/>
          </a:p>
          <a:p>
            <a:pPr marL="0" lvl="0" indent="0" algn="l" rtl="0">
              <a:spcBef>
                <a:spcPts val="0"/>
              </a:spcBef>
              <a:spcAft>
                <a:spcPts val="0"/>
              </a:spcAft>
              <a:buNone/>
            </a:pPr>
            <a:r>
              <a:rPr lang="en-US" sz="1200" dirty="0"/>
              <a:t>Act 2 — Turn E2E ON, send a different unique prompt, and show seq and </a:t>
            </a:r>
            <a:r>
              <a:rPr lang="en-US" sz="1200" dirty="0" err="1"/>
              <a:t>ct</a:t>
            </a:r>
            <a:r>
              <a:rPr lang="en-US" sz="1200" dirty="0"/>
              <a:t> instead of the prompt. Return to the browser to prove the intended server still decrypts and echoes.</a:t>
            </a:r>
            <a:endParaRPr dirty="0"/>
          </a:p>
          <a:p>
            <a:pPr marL="0" lvl="0" indent="0" algn="l" rtl="0">
              <a:spcBef>
                <a:spcPts val="0"/>
              </a:spcBef>
              <a:spcAft>
                <a:spcPts val="0"/>
              </a:spcAft>
              <a:buNone/>
            </a:pPr>
            <a:endParaRPr dirty="0"/>
          </a:p>
          <a:p>
            <a:pPr marL="0" lvl="0" indent="0" algn="l" rtl="0">
              <a:spcBef>
                <a:spcPts val="0"/>
              </a:spcBef>
              <a:spcAft>
                <a:spcPts val="0"/>
              </a:spcAft>
              <a:buNone/>
            </a:pPr>
            <a:r>
              <a:rPr lang="en-US" dirty="0">
                <a:solidFill>
                  <a:schemeClr val="dk1"/>
                </a:solidFill>
              </a:rPr>
              <a:t>Speaker script:</a:t>
            </a:r>
            <a:endParaRPr dirty="0"/>
          </a:p>
        </p:txBody>
      </p:sp>
      <p:sp>
        <p:nvSpPr>
          <p:cNvPr id="167" name="Google Shape;167;g3f541a6bd30_0_5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g3f541a6bd30_0_2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0" name="Google Shape;190;g3f541a6bd30_0_2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t>Timing: 5:00–6:00. </a:t>
            </a:r>
            <a:r>
              <a:rPr lang="en-US" sz="1500" b="1"/>
              <a:t>This is the centerpiece.</a:t>
            </a:r>
            <a:endParaRPr sz="1500" b="1"/>
          </a:p>
          <a:p>
            <a:pPr marL="0" lvl="0" indent="0" algn="l" rtl="0">
              <a:spcBef>
                <a:spcPts val="0"/>
              </a:spcBef>
              <a:spcAft>
                <a:spcPts val="0"/>
              </a:spcAft>
              <a:buNone/>
            </a:pPr>
            <a:r>
              <a:rPr lang="en-US" sz="1200"/>
              <a:t>Act 3 — integrity (about 1.5–2 minutes): tamper with or replay one encrypted frame. Show rejection or connection teardown and confirm there is no corrupted plaintext or duplicate echo.</a:t>
            </a:r>
            <a:endParaRPr/>
          </a:p>
          <a:p>
            <a:pPr marL="0" lvl="0" indent="0" algn="l" rtl="0">
              <a:spcBef>
                <a:spcPts val="0"/>
              </a:spcBef>
              <a:spcAft>
                <a:spcPts val="0"/>
              </a:spcAft>
              <a:buNone/>
            </a:pPr>
            <a:r>
              <a:rPr lang="en-US" sz="1200"/>
              <a:t>Narrate the control: the observer position is unchanged; only application-layer encryption changes.</a:t>
            </a:r>
            <a:endParaRPr/>
          </a:p>
          <a:p>
            <a:pPr marL="0" lvl="0" indent="0" algn="l" rtl="0">
              <a:spcBef>
                <a:spcPts val="0"/>
              </a:spcBef>
              <a:spcAft>
                <a:spcPts val="0"/>
              </a:spcAft>
              <a:buNone/>
            </a:pPr>
            <a:r>
              <a:rPr lang="en-US" sz="1200"/>
              <a:t>Fallback: keep the collected evidence screenshots open in advance. If the live path stalls, switch after 30 seconds and explain which expected observation each screenshot proves.</a:t>
            </a:r>
            <a:endParaRPr sz="1200"/>
          </a:p>
          <a:p>
            <a:pPr marL="0" lvl="0" indent="0" algn="l" rtl="0">
              <a:spcBef>
                <a:spcPts val="0"/>
              </a:spcBef>
              <a:spcAft>
                <a:spcPts val="0"/>
              </a:spcAft>
              <a:buNone/>
            </a:pPr>
            <a:endParaRPr/>
          </a:p>
          <a:p>
            <a:pPr marL="0" lvl="0" indent="0" algn="l" rtl="0">
              <a:spcBef>
                <a:spcPts val="0"/>
              </a:spcBef>
              <a:spcAft>
                <a:spcPts val="0"/>
              </a:spcAft>
              <a:buNone/>
            </a:pPr>
            <a:r>
              <a:rPr lang="en-US">
                <a:solidFill>
                  <a:schemeClr val="dk1"/>
                </a:solidFill>
              </a:rPr>
              <a:t>Speaker script:</a:t>
            </a:r>
            <a:endParaRPr/>
          </a:p>
        </p:txBody>
      </p:sp>
      <p:sp>
        <p:nvSpPr>
          <p:cNvPr id="191" name="Google Shape;191;g3f541a6bd30_0_2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7"/>
        <p:cNvGrpSpPr/>
        <p:nvPr/>
      </p:nvGrpSpPr>
      <p:grpSpPr>
        <a:xfrm>
          <a:off x="0" y="0"/>
          <a:ext cx="0" cy="0"/>
          <a:chOff x="0" y="0"/>
          <a:chExt cx="0" cy="0"/>
        </a:xfrm>
      </p:grpSpPr>
      <p:sp>
        <p:nvSpPr>
          <p:cNvPr id="218" name="Google Shape;218;p6:notes"/>
          <p:cNvSpPr>
            <a:spLocks noGrp="1" noRot="1" noChangeAspect="1"/>
          </p:cNvSpPr>
          <p:nvPr>
            <p:ph type="sldImg" idx="2"/>
          </p:nvPr>
        </p:nvSpPr>
        <p:spPr>
          <a:xfrm>
            <a:off x="0" y="0"/>
            <a:ext cx="3000000" cy="30000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9" name="Google Shape;219;p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a:t>Timing: 1:30–1:45.</a:t>
            </a:r>
            <a:endParaRPr/>
          </a:p>
          <a:p>
            <a:pPr marL="0" lvl="0" indent="0" algn="l" rtl="0">
              <a:spcBef>
                <a:spcPts val="0"/>
              </a:spcBef>
              <a:spcAft>
                <a:spcPts val="0"/>
              </a:spcAft>
              <a:buNone/>
            </a:pPr>
            <a:r>
              <a:rPr lang="en-US" sz="1200"/>
              <a:t>Do not read every cell. Lead with the first row as the direct answer to the research question, then use the identity and validation row to show how red-team work changed the implementation.</a:t>
            </a:r>
            <a:endParaRPr/>
          </a:p>
          <a:p>
            <a:pPr marL="0" lvl="0" indent="0" algn="l" rtl="0">
              <a:spcBef>
                <a:spcPts val="0"/>
              </a:spcBef>
              <a:spcAft>
                <a:spcPts val="0"/>
              </a:spcAft>
              <a:buNone/>
            </a:pPr>
            <a:r>
              <a:rPr lang="en-US" sz="1200"/>
              <a:t>The non-canonical Base64URL pin representation was accepted even though the underlying key matched. The fix enforced canonical encoding rather than merely decoded-byte equality.</a:t>
            </a:r>
            <a:endParaRPr/>
          </a:p>
          <a:p>
            <a:pPr marL="0" lvl="0" indent="0" algn="l" rtl="0">
              <a:spcBef>
                <a:spcPts val="0"/>
              </a:spcBef>
              <a:spcAft>
                <a:spcPts val="0"/>
              </a:spcAft>
              <a:buNone/>
            </a:pPr>
            <a:r>
              <a:rPr lang="en-US" sz="1200"/>
              <a:t>Malformed sequence and ciphertext paths originally produced inconsistent errors, including internal exception details. The implementation now rejects uniformly and sanitizes error output.</a:t>
            </a:r>
            <a:endParaRPr/>
          </a:p>
          <a:p>
            <a:pPr marL="0" lvl="0" indent="0" algn="l" rtl="0">
              <a:spcBef>
                <a:spcPts val="0"/>
              </a:spcBef>
              <a:spcAft>
                <a:spcPts val="0"/>
              </a:spcAft>
              <a:buNone/>
            </a:pPr>
            <a:r>
              <a:rPr lang="en-US" sz="1200"/>
              <a:t>Leakage testing found no unique prompt tokens in the searched mitmproxy, client, server, or Docker logs, but metadata remained observable.</a:t>
            </a:r>
            <a:endParaRPr sz="1200"/>
          </a:p>
          <a:p>
            <a:pPr marL="0" lvl="0" indent="0" algn="l" rtl="0">
              <a:spcBef>
                <a:spcPts val="0"/>
              </a:spcBef>
              <a:spcAft>
                <a:spcPts val="0"/>
              </a:spcAft>
              <a:buNone/>
            </a:pPr>
            <a:endParaRPr/>
          </a:p>
          <a:p>
            <a:pPr marL="0" lvl="0" indent="0" algn="l" rtl="0">
              <a:spcBef>
                <a:spcPts val="0"/>
              </a:spcBef>
              <a:spcAft>
                <a:spcPts val="0"/>
              </a:spcAft>
              <a:buClr>
                <a:schemeClr val="dk1"/>
              </a:buClr>
              <a:buFont typeface="Arial"/>
              <a:buNone/>
            </a:pPr>
            <a:r>
              <a:rPr lang="en-US">
                <a:solidFill>
                  <a:schemeClr val="dk1"/>
                </a:solidFill>
              </a:rPr>
              <a:t>Speaker script:</a:t>
            </a:r>
            <a:endParaRPr/>
          </a:p>
        </p:txBody>
      </p:sp>
      <p:sp>
        <p:nvSpPr>
          <p:cNvPr id="220" name="Google Shape;220;p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g3f541a6bd30_0_10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9" name="Google Shape;249;g3f541a6bd30_0_10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dirty="0"/>
              <a:t>Timing: 0:55–1:05.</a:t>
            </a:r>
            <a:endParaRPr dirty="0"/>
          </a:p>
          <a:p>
            <a:pPr marL="0" lvl="0" indent="0" algn="l" rtl="0">
              <a:spcBef>
                <a:spcPts val="0"/>
              </a:spcBef>
              <a:spcAft>
                <a:spcPts val="0"/>
              </a:spcAft>
              <a:buNone/>
            </a:pPr>
            <a:r>
              <a:rPr lang="en-US" sz="1200" dirty="0"/>
              <a:t>This is the final assessment. The most interesting part of E2E LLM Prompt is that it makes an otherwise hidden trust boundary observable. We kept the browser, proxy, server, route, and prompt behavior constant; changing one encryption toggle changed what the intermediary could learn.</a:t>
            </a:r>
            <a:endParaRPr dirty="0"/>
          </a:p>
          <a:p>
            <a:pPr marL="0" lvl="0" indent="0" algn="l" rtl="0">
              <a:spcBef>
                <a:spcPts val="0"/>
              </a:spcBef>
              <a:spcAft>
                <a:spcPts val="0"/>
              </a:spcAft>
              <a:buNone/>
            </a:pPr>
            <a:r>
              <a:rPr lang="en-US" sz="1200" dirty="0"/>
              <a:t>That makes the project more than a cryptographic implementation. It is a controlled security experiment: the proxy view answers the confidentiality question, the replay and tamper tests answer the integrity question, and the red-team fixes show how adversarial testing improved the implementation.</a:t>
            </a:r>
            <a:endParaRPr dirty="0"/>
          </a:p>
          <a:p>
            <a:pPr marL="0" lvl="0" indent="0" algn="l" rtl="0">
              <a:spcBef>
                <a:spcPts val="0"/>
              </a:spcBef>
              <a:spcAft>
                <a:spcPts val="0"/>
              </a:spcAft>
              <a:buNone/>
            </a:pPr>
            <a:r>
              <a:rPr lang="en-US" sz="1200" dirty="0"/>
              <a:t>The direct answer to our research question is that browser-to-server application-layer encryption moved prompt plaintext beyond TLS termination without breaking the intended application behavior.</a:t>
            </a:r>
            <a:endParaRPr dirty="0"/>
          </a:p>
          <a:p>
            <a:pPr marL="0" lvl="0" indent="0" algn="l" rtl="0">
              <a:spcBef>
                <a:spcPts val="0"/>
              </a:spcBef>
              <a:spcAft>
                <a:spcPts val="0"/>
              </a:spcAft>
              <a:buNone/>
            </a:pPr>
            <a:r>
              <a:rPr lang="en-US" sz="1200" dirty="0"/>
              <a:t>Keep the limitation honest: E2E LLM Prompt narrows the plaintext boundary; it does not remove endpoint trust, code-delivery risk, metadata leakage, or denial-of-service exposure.</a:t>
            </a:r>
            <a:endParaRPr dirty="0"/>
          </a:p>
          <a:p>
            <a:pPr marL="0" lvl="0" indent="0" algn="l" rtl="0">
              <a:spcBef>
                <a:spcPts val="0"/>
              </a:spcBef>
              <a:spcAft>
                <a:spcPts val="0"/>
              </a:spcAft>
              <a:buNone/>
            </a:pPr>
            <a:r>
              <a:rPr lang="en-US" sz="1200" dirty="0"/>
              <a:t>End on the black-bar line: 'TLS secures the connection. E2E LLM Prompt controls where plaintext begins.' Pause before advancing.</a:t>
            </a:r>
            <a:endParaRPr sz="1200" dirty="0"/>
          </a:p>
          <a:p>
            <a:pPr marL="0" lvl="0" indent="0" algn="l" rtl="0">
              <a:spcBef>
                <a:spcPts val="0"/>
              </a:spcBef>
              <a:spcAft>
                <a:spcPts val="0"/>
              </a:spcAft>
              <a:buNone/>
            </a:pPr>
            <a:endParaRPr dirty="0"/>
          </a:p>
          <a:p>
            <a:pPr marL="0" lvl="0" indent="0" algn="l" rtl="0">
              <a:spcBef>
                <a:spcPts val="0"/>
              </a:spcBef>
              <a:spcAft>
                <a:spcPts val="0"/>
              </a:spcAft>
              <a:buNone/>
            </a:pPr>
            <a:r>
              <a:rPr lang="en-US" dirty="0"/>
              <a:t>Script:</a:t>
            </a:r>
            <a:endParaRPr dirty="0"/>
          </a:p>
        </p:txBody>
      </p:sp>
      <p:sp>
        <p:nvSpPr>
          <p:cNvPr id="250" name="Google Shape;250;g3f541a6bd30_0_10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3f541a6bd30_0_9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80" name="Google Shape;280;g3f541a6bd30_0_9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sz="1200" dirty="0"/>
              <a:t>Timing: 0:10, then Q&amp;A.</a:t>
            </a:r>
            <a:endParaRPr dirty="0"/>
          </a:p>
          <a:p>
            <a:pPr marL="0" lvl="0" indent="0" algn="l" rtl="0">
              <a:spcBef>
                <a:spcPts val="0"/>
              </a:spcBef>
              <a:spcAft>
                <a:spcPts val="0"/>
              </a:spcAft>
              <a:buNone/>
            </a:pPr>
            <a:r>
              <a:rPr lang="en-US" sz="1200" dirty="0"/>
              <a:t>Say: 'Thank you. We welcome your questions.' Then pause and leave this slide displayed.</a:t>
            </a:r>
            <a:endParaRPr sz="1200" dirty="0"/>
          </a:p>
          <a:p>
            <a:pPr marL="0" lvl="0" indent="0" algn="l" rtl="0">
              <a:spcBef>
                <a:spcPts val="0"/>
              </a:spcBef>
              <a:spcAft>
                <a:spcPts val="0"/>
              </a:spcAft>
              <a:buNone/>
            </a:pPr>
            <a:endParaRPr dirty="0"/>
          </a:p>
          <a:p>
            <a:pPr marL="0" lvl="0" indent="0" algn="l" rtl="0">
              <a:spcBef>
                <a:spcPts val="0"/>
              </a:spcBef>
              <a:spcAft>
                <a:spcPts val="0"/>
              </a:spcAft>
              <a:buNone/>
            </a:pPr>
            <a:r>
              <a:rPr lang="en-US" dirty="0"/>
              <a:t>Possible questions to prep for:</a:t>
            </a:r>
            <a:endParaRPr dirty="0"/>
          </a:p>
          <a:p>
            <a:pPr marL="0" lvl="0" indent="0" algn="l" rtl="0">
              <a:spcBef>
                <a:spcPts val="0"/>
              </a:spcBef>
              <a:spcAft>
                <a:spcPts val="0"/>
              </a:spcAft>
              <a:buNone/>
            </a:pPr>
            <a:r>
              <a:rPr lang="en-US" sz="1200" dirty="0"/>
              <a:t>Q&amp;A — Why not TLS? TLS protects between TLS endpoints; an approved reverse proxy can be an endpoint and receive plaintext.</a:t>
            </a:r>
            <a:endParaRPr dirty="0"/>
          </a:p>
          <a:p>
            <a:pPr marL="0" lvl="0" indent="0" algn="l" rtl="0">
              <a:spcBef>
                <a:spcPts val="0"/>
              </a:spcBef>
              <a:spcAft>
                <a:spcPts val="0"/>
              </a:spcAft>
              <a:buNone/>
            </a:pPr>
            <a:r>
              <a:rPr lang="en-US" sz="1200" dirty="0"/>
              <a:t>Q&amp;A — Does </a:t>
            </a:r>
            <a:r>
              <a:rPr lang="en-US" sz="1200" dirty="0" err="1"/>
              <a:t>HPKE</a:t>
            </a:r>
            <a:r>
              <a:rPr lang="en-US" sz="1200" dirty="0"/>
              <a:t> replace TLS? No. TLS still provides transport security; </a:t>
            </a:r>
            <a:r>
              <a:rPr lang="en-US" sz="1200" dirty="0" err="1"/>
              <a:t>HPKE</a:t>
            </a:r>
            <a:r>
              <a:rPr lang="en-US" sz="1200" dirty="0"/>
              <a:t> adds an inner application-layer confidentiality boundary.</a:t>
            </a:r>
            <a:endParaRPr dirty="0"/>
          </a:p>
          <a:p>
            <a:pPr marL="0" lvl="0" indent="0" algn="l" rtl="0">
              <a:spcBef>
                <a:spcPts val="0"/>
              </a:spcBef>
              <a:spcAft>
                <a:spcPts val="0"/>
              </a:spcAft>
              <a:buNone/>
            </a:pPr>
            <a:r>
              <a:rPr lang="en-US" sz="1200" dirty="0"/>
              <a:t>Q&amp;A — Is this user-to-user E2E? No. The scoped endpoint is the intended server process.</a:t>
            </a:r>
            <a:endParaRPr dirty="0"/>
          </a:p>
          <a:p>
            <a:pPr marL="0" lvl="0" indent="0" algn="l" rtl="0">
              <a:spcBef>
                <a:spcPts val="0"/>
              </a:spcBef>
              <a:spcAft>
                <a:spcPts val="0"/>
              </a:spcAft>
              <a:buNone/>
            </a:pPr>
            <a:r>
              <a:rPr lang="en-US" sz="1200" dirty="0"/>
              <a:t>Q&amp;A — What remains visible? Connection data, timing, ciphertext size, message count, and service use.</a:t>
            </a:r>
            <a:endParaRPr dirty="0"/>
          </a:p>
          <a:p>
            <a:pPr marL="0" lvl="0" indent="0" algn="l" rtl="0">
              <a:spcBef>
                <a:spcPts val="0"/>
              </a:spcBef>
              <a:spcAft>
                <a:spcPts val="0"/>
              </a:spcAft>
              <a:buNone/>
            </a:pPr>
            <a:r>
              <a:rPr lang="en-US" sz="1200" dirty="0"/>
              <a:t>Q&amp;A — Biggest residual risk? Code delivery. Modified frontend JavaScript can capture a prompt before honest </a:t>
            </a:r>
            <a:r>
              <a:rPr lang="en-US" sz="1200" dirty="0" err="1"/>
              <a:t>HPKE</a:t>
            </a:r>
            <a:r>
              <a:rPr lang="en-US" sz="1200" dirty="0"/>
              <a:t> code seals it.</a:t>
            </a:r>
            <a:endParaRPr dirty="0"/>
          </a:p>
          <a:p>
            <a:pPr marL="0" lvl="0" indent="0" algn="l" rtl="0">
              <a:spcBef>
                <a:spcPts val="0"/>
              </a:spcBef>
              <a:spcAft>
                <a:spcPts val="0"/>
              </a:spcAft>
              <a:buNone/>
            </a:pPr>
            <a:r>
              <a:rPr lang="en-US" sz="1200" dirty="0"/>
              <a:t>Q&amp;A — Forward secrecy? The demo does not protect past messages after compromise of the long-term recipient key; rotation or a ratchet is future work.</a:t>
            </a:r>
            <a:endParaRPr sz="1200" dirty="0"/>
          </a:p>
          <a:p>
            <a:pPr marL="0" lvl="0" indent="0" algn="l" rtl="0">
              <a:spcBef>
                <a:spcPts val="0"/>
              </a:spcBef>
              <a:spcAft>
                <a:spcPts val="0"/>
              </a:spcAft>
              <a:buNone/>
            </a:pPr>
            <a:endParaRPr dirty="0"/>
          </a:p>
          <a:p>
            <a:pPr marL="0" lvl="0" indent="0" algn="l" rtl="0">
              <a:spcBef>
                <a:spcPts val="0"/>
              </a:spcBef>
              <a:spcAft>
                <a:spcPts val="0"/>
              </a:spcAft>
              <a:buNone/>
            </a:pPr>
            <a:r>
              <a:rPr lang="en-US" dirty="0"/>
              <a:t>Script:</a:t>
            </a:r>
            <a:endParaRPr dirty="0"/>
          </a:p>
        </p:txBody>
      </p:sp>
      <p:sp>
        <p:nvSpPr>
          <p:cNvPr id="281" name="Google Shape;281;g3f541a6bd30_0_9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sz="1800">
              <a:solidFill>
                <a:schemeClr val="dk1"/>
              </a:solidFill>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2.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3.mp4"/><Relationship Id="rId1" Type="http://schemas.microsoft.com/office/2007/relationships/media" Target="../media/media3.mp4"/><Relationship Id="rId5" Type="http://schemas.openxmlformats.org/officeDocument/2006/relationships/image" Target="../media/image3.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4.mp4"/><Relationship Id="rId1" Type="http://schemas.microsoft.com/office/2007/relationships/media" Target="../media/media4.mp4"/><Relationship Id="rId5" Type="http://schemas.openxmlformats.org/officeDocument/2006/relationships/image" Target="../media/image4.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5"/>
        <p:cNvGrpSpPr/>
        <p:nvPr/>
      </p:nvGrpSpPr>
      <p:grpSpPr>
        <a:xfrm>
          <a:off x="0" y="0"/>
          <a:ext cx="0" cy="0"/>
          <a:chOff x="0" y="0"/>
          <a:chExt cx="0" cy="0"/>
        </a:xfrm>
      </p:grpSpPr>
      <p:sp>
        <p:nvSpPr>
          <p:cNvPr id="16" name="Google Shape;16;p3"/>
          <p:cNvSpPr/>
          <p:nvPr/>
        </p:nvSpPr>
        <p:spPr>
          <a:xfrm>
            <a:off x="0" y="0"/>
            <a:ext cx="12192000" cy="95250"/>
          </a:xfrm>
          <a:prstGeom prst="rect">
            <a:avLst/>
          </a:prstGeom>
          <a:solidFill>
            <a:srgbClr val="3D8D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7" name="Google Shape;17;p3"/>
          <p:cNvCxnSpPr/>
          <p:nvPr/>
        </p:nvCxnSpPr>
        <p:spPr>
          <a:xfrm>
            <a:off x="400050" y="6334125"/>
            <a:ext cx="11391900" cy="953"/>
          </a:xfrm>
          <a:prstGeom prst="straightConnector1">
            <a:avLst/>
          </a:prstGeom>
          <a:noFill/>
          <a:ln w="9525" cap="flat" cmpd="sng">
            <a:solidFill>
              <a:srgbClr val="B8BCC4"/>
            </a:solidFill>
            <a:prstDash val="solid"/>
            <a:round/>
            <a:headEnd type="none" w="sm" len="sm"/>
            <a:tailEnd type="none" w="sm" len="sm"/>
          </a:ln>
        </p:spPr>
      </p:cxnSp>
      <p:sp>
        <p:nvSpPr>
          <p:cNvPr id="18" name="Google Shape;18;p3"/>
          <p:cNvSpPr/>
          <p:nvPr/>
        </p:nvSpPr>
        <p:spPr>
          <a:xfrm>
            <a:off x="11239500" y="6419850"/>
            <a:ext cx="552450" cy="209550"/>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r>
              <a:rPr lang="en-US" sz="900" b="0">
                <a:solidFill>
                  <a:srgbClr val="52606D"/>
                </a:solidFill>
                <a:latin typeface="Helvetica Neue"/>
                <a:ea typeface="Helvetica Neue"/>
                <a:cs typeface="Helvetica Neue"/>
                <a:sym typeface="Helvetica Neue"/>
              </a:rPr>
              <a:t>1</a:t>
            </a:r>
            <a:endParaRPr/>
          </a:p>
        </p:txBody>
      </p:sp>
      <p:sp>
        <p:nvSpPr>
          <p:cNvPr id="19" name="Google Shape;19;p3"/>
          <p:cNvSpPr/>
          <p:nvPr/>
        </p:nvSpPr>
        <p:spPr>
          <a:xfrm>
            <a:off x="495300" y="457200"/>
            <a:ext cx="4857750" cy="24765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275" b="1">
                <a:solidFill>
                  <a:srgbClr val="3D8DFF"/>
                </a:solidFill>
                <a:latin typeface="Helvetica Neue"/>
                <a:ea typeface="Helvetica Neue"/>
                <a:cs typeface="Helvetica Neue"/>
                <a:sym typeface="Helvetica Neue"/>
              </a:rPr>
              <a:t>CYBER 210 · NETWORK SECURITY</a:t>
            </a:r>
            <a:endParaRPr/>
          </a:p>
        </p:txBody>
      </p:sp>
      <p:sp>
        <p:nvSpPr>
          <p:cNvPr id="20" name="Google Shape;20;p3"/>
          <p:cNvSpPr/>
          <p:nvPr/>
        </p:nvSpPr>
        <p:spPr>
          <a:xfrm>
            <a:off x="476250" y="1047750"/>
            <a:ext cx="6705600" cy="781050"/>
          </a:xfrm>
          <a:prstGeom prst="rect">
            <a:avLst/>
          </a:prstGeom>
          <a:noFill/>
          <a:ln>
            <a:noFill/>
          </a:ln>
        </p:spPr>
        <p:txBody>
          <a:bodyPr spcFirstLastPara="1" wrap="square" lIns="0" tIns="0" rIns="0" bIns="0" anchor="t" anchorCtr="0">
            <a:noAutofit/>
          </a:bodyPr>
          <a:lstStyle/>
          <a:p>
            <a:pPr lvl="0"/>
            <a:r>
              <a:rPr lang="en-US" sz="4400" b="1" dirty="0" err="1"/>
              <a:t>EchoVault</a:t>
            </a:r>
            <a:endParaRPr sz="1200" b="1" dirty="0"/>
          </a:p>
        </p:txBody>
      </p:sp>
      <p:sp>
        <p:nvSpPr>
          <p:cNvPr id="21" name="Google Shape;21;p3"/>
          <p:cNvSpPr/>
          <p:nvPr/>
        </p:nvSpPr>
        <p:spPr>
          <a:xfrm>
            <a:off x="495300" y="1757113"/>
            <a:ext cx="5334000" cy="100012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2850" b="1" dirty="0">
                <a:solidFill>
                  <a:srgbClr val="111827"/>
                </a:solidFill>
                <a:latin typeface="Helvetica Neue"/>
                <a:ea typeface="Helvetica Neue"/>
                <a:cs typeface="Helvetica Neue"/>
                <a:sym typeface="Helvetica Neue"/>
              </a:rPr>
              <a:t>Protecting LLM prompt traffic beyond TLS</a:t>
            </a:r>
            <a:endParaRPr dirty="0"/>
          </a:p>
        </p:txBody>
      </p:sp>
      <p:sp>
        <p:nvSpPr>
          <p:cNvPr id="22" name="Google Shape;22;p3"/>
          <p:cNvSpPr/>
          <p:nvPr/>
        </p:nvSpPr>
        <p:spPr>
          <a:xfrm>
            <a:off x="495300" y="3286125"/>
            <a:ext cx="5143500" cy="1000125"/>
          </a:xfrm>
          <a:prstGeom prst="rect">
            <a:avLst/>
          </a:prstGeom>
          <a:noFill/>
          <a:ln>
            <a:noFill/>
          </a:ln>
        </p:spPr>
        <p:txBody>
          <a:bodyPr spcFirstLastPara="1" wrap="square" lIns="0" tIns="0" rIns="0" bIns="0" anchor="t" anchorCtr="0">
            <a:noAutofit/>
          </a:bodyPr>
          <a:lstStyle/>
          <a:p>
            <a:pPr lvl="0"/>
            <a:r>
              <a:rPr lang="en-US" sz="1800" dirty="0"/>
              <a:t>Evaluating Browser to Server Application Layer Encryption.</a:t>
            </a:r>
            <a:endParaRPr dirty="0"/>
          </a:p>
        </p:txBody>
      </p:sp>
      <p:sp>
        <p:nvSpPr>
          <p:cNvPr id="23" name="Google Shape;23;p3"/>
          <p:cNvSpPr/>
          <p:nvPr/>
        </p:nvSpPr>
        <p:spPr>
          <a:xfrm>
            <a:off x="495300" y="5486400"/>
            <a:ext cx="5238750" cy="28575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200" b="0">
                <a:solidFill>
                  <a:srgbClr val="52606D"/>
                </a:solidFill>
                <a:latin typeface="Helvetica Neue"/>
                <a:ea typeface="Helvetica Neue"/>
                <a:cs typeface="Helvetica Neue"/>
                <a:sym typeface="Helvetica Neue"/>
              </a:rPr>
              <a:t>Aura Gaines · Cameron Faulkner · Fil Dziembowski</a:t>
            </a:r>
            <a:endParaRPr/>
          </a:p>
        </p:txBody>
      </p:sp>
      <p:sp>
        <p:nvSpPr>
          <p:cNvPr id="24" name="Google Shape;24;p3"/>
          <p:cNvSpPr/>
          <p:nvPr/>
        </p:nvSpPr>
        <p:spPr>
          <a:xfrm>
            <a:off x="6572250" y="590550"/>
            <a:ext cx="4953000" cy="5257800"/>
          </a:xfrm>
          <a:prstGeom prst="rect">
            <a:avLst/>
          </a:prstGeom>
          <a:solidFill>
            <a:srgbClr val="1118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p:nvPr/>
        </p:nvSpPr>
        <p:spPr>
          <a:xfrm>
            <a:off x="7029450" y="1066800"/>
            <a:ext cx="4000500" cy="22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200" b="1">
                <a:solidFill>
                  <a:srgbClr val="E8792E"/>
                </a:solidFill>
                <a:latin typeface="Helvetica Neue"/>
                <a:ea typeface="Helvetica Neue"/>
                <a:cs typeface="Helvetica Neue"/>
                <a:sym typeface="Helvetica Neue"/>
              </a:rPr>
              <a:t>TLS TERMINATES</a:t>
            </a:r>
            <a:endParaRPr/>
          </a:p>
        </p:txBody>
      </p:sp>
      <p:sp>
        <p:nvSpPr>
          <p:cNvPr id="26" name="Google Shape;26;p3"/>
          <p:cNvSpPr/>
          <p:nvPr/>
        </p:nvSpPr>
        <p:spPr>
          <a:xfrm>
            <a:off x="7029450" y="1438275"/>
            <a:ext cx="4000500" cy="43815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2325" b="1">
                <a:solidFill>
                  <a:srgbClr val="FFFFFF"/>
                </a:solidFill>
                <a:latin typeface="Helvetica Neue"/>
                <a:ea typeface="Helvetica Neue"/>
                <a:cs typeface="Helvetica Neue"/>
                <a:sym typeface="Helvetica Neue"/>
              </a:rPr>
              <a:t>before the application</a:t>
            </a:r>
            <a:endParaRPr/>
          </a:p>
        </p:txBody>
      </p:sp>
      <p:cxnSp>
        <p:nvCxnSpPr>
          <p:cNvPr id="27" name="Google Shape;27;p3"/>
          <p:cNvCxnSpPr/>
          <p:nvPr/>
        </p:nvCxnSpPr>
        <p:spPr>
          <a:xfrm>
            <a:off x="7029450" y="2133600"/>
            <a:ext cx="4000500" cy="953"/>
          </a:xfrm>
          <a:prstGeom prst="straightConnector1">
            <a:avLst/>
          </a:prstGeom>
          <a:noFill/>
          <a:ln w="9525" cap="flat" cmpd="sng">
            <a:solidFill>
              <a:srgbClr val="B8BCC4"/>
            </a:solidFill>
            <a:prstDash val="solid"/>
            <a:round/>
            <a:headEnd type="none" w="sm" len="sm"/>
            <a:tailEnd type="none" w="sm" len="sm"/>
          </a:ln>
        </p:spPr>
      </p:cxnSp>
      <p:sp>
        <p:nvSpPr>
          <p:cNvPr id="28" name="Google Shape;28;p3"/>
          <p:cNvSpPr/>
          <p:nvPr/>
        </p:nvSpPr>
        <p:spPr>
          <a:xfrm>
            <a:off x="7029450" y="2581275"/>
            <a:ext cx="4000500" cy="22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200" b="1">
                <a:solidFill>
                  <a:srgbClr val="6DCBF4"/>
                </a:solidFill>
                <a:latin typeface="Helvetica Neue"/>
                <a:ea typeface="Helvetica Neue"/>
                <a:cs typeface="Helvetica Neue"/>
                <a:sym typeface="Helvetica Neue"/>
              </a:rPr>
              <a:t>HPKE SHIFTS</a:t>
            </a:r>
            <a:endParaRPr/>
          </a:p>
        </p:txBody>
      </p:sp>
      <p:sp>
        <p:nvSpPr>
          <p:cNvPr id="29" name="Google Shape;29;p3"/>
          <p:cNvSpPr/>
          <p:nvPr/>
        </p:nvSpPr>
        <p:spPr>
          <a:xfrm>
            <a:off x="7029450" y="2952750"/>
            <a:ext cx="4000500" cy="43815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2325" b="1">
                <a:solidFill>
                  <a:srgbClr val="FFFFFF"/>
                </a:solidFill>
                <a:latin typeface="Helvetica Neue"/>
                <a:ea typeface="Helvetica Neue"/>
                <a:cs typeface="Helvetica Neue"/>
                <a:sym typeface="Helvetica Neue"/>
              </a:rPr>
              <a:t>where plaintext begins</a:t>
            </a:r>
            <a:endParaRPr/>
          </a:p>
        </p:txBody>
      </p:sp>
      <p:sp>
        <p:nvSpPr>
          <p:cNvPr id="30" name="Google Shape;30;p3"/>
          <p:cNvSpPr/>
          <p:nvPr/>
        </p:nvSpPr>
        <p:spPr>
          <a:xfrm>
            <a:off x="7029450" y="3829050"/>
            <a:ext cx="1714500" cy="685800"/>
          </a:xfrm>
          <a:prstGeom prst="roundRect">
            <a:avLst>
              <a:gd name="adj" fmla="val 11111"/>
            </a:avLst>
          </a:prstGeom>
          <a:solidFill>
            <a:srgbClr val="FCEBDD"/>
          </a:solidFill>
          <a:ln w="9525" cap="flat" cmpd="sng">
            <a:solidFill>
              <a:srgbClr val="E8792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3"/>
          <p:cNvSpPr/>
          <p:nvPr/>
        </p:nvSpPr>
        <p:spPr>
          <a:xfrm>
            <a:off x="7200900" y="3971925"/>
            <a:ext cx="1371600" cy="1905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1125" b="1">
                <a:solidFill>
                  <a:srgbClr val="E8792E"/>
                </a:solidFill>
                <a:latin typeface="Helvetica Neue"/>
                <a:ea typeface="Helvetica Neue"/>
                <a:cs typeface="Helvetica Neue"/>
                <a:sym typeface="Helvetica Neue"/>
              </a:rPr>
              <a:t>TLS only</a:t>
            </a:r>
            <a:endParaRPr/>
          </a:p>
        </p:txBody>
      </p:sp>
      <p:sp>
        <p:nvSpPr>
          <p:cNvPr id="32" name="Google Shape;32;p3"/>
          <p:cNvSpPr/>
          <p:nvPr/>
        </p:nvSpPr>
        <p:spPr>
          <a:xfrm>
            <a:off x="7181850" y="4248150"/>
            <a:ext cx="1409700" cy="1905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1275" b="1">
                <a:solidFill>
                  <a:srgbClr val="111827"/>
                </a:solidFill>
                <a:latin typeface="Helvetica Neue"/>
                <a:ea typeface="Helvetica Neue"/>
                <a:cs typeface="Helvetica Neue"/>
                <a:sym typeface="Helvetica Neue"/>
              </a:rPr>
              <a:t>prompt readable</a:t>
            </a:r>
            <a:endParaRPr/>
          </a:p>
        </p:txBody>
      </p:sp>
      <p:sp>
        <p:nvSpPr>
          <p:cNvPr id="33" name="Google Shape;33;p3"/>
          <p:cNvSpPr/>
          <p:nvPr/>
        </p:nvSpPr>
        <p:spPr>
          <a:xfrm>
            <a:off x="9315450" y="3829050"/>
            <a:ext cx="1714500" cy="685800"/>
          </a:xfrm>
          <a:prstGeom prst="roundRect">
            <a:avLst>
              <a:gd name="adj" fmla="val 11111"/>
            </a:avLst>
          </a:prstGeom>
          <a:solidFill>
            <a:srgbClr val="EAF5FB"/>
          </a:solidFill>
          <a:ln w="9525" cap="flat" cmpd="sng">
            <a:solidFill>
              <a:srgbClr val="3D8D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3"/>
          <p:cNvSpPr/>
          <p:nvPr/>
        </p:nvSpPr>
        <p:spPr>
          <a:xfrm>
            <a:off x="9486900" y="3971925"/>
            <a:ext cx="1371600" cy="1905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1125" b="1">
                <a:solidFill>
                  <a:srgbClr val="3D8DFF"/>
                </a:solidFill>
                <a:latin typeface="Helvetica Neue"/>
                <a:ea typeface="Helvetica Neue"/>
                <a:cs typeface="Helvetica Neue"/>
                <a:sym typeface="Helvetica Neue"/>
              </a:rPr>
              <a:t>TLS + HPKE</a:t>
            </a:r>
            <a:endParaRPr/>
          </a:p>
        </p:txBody>
      </p:sp>
      <p:sp>
        <p:nvSpPr>
          <p:cNvPr id="35" name="Google Shape;35;p3"/>
          <p:cNvSpPr/>
          <p:nvPr/>
        </p:nvSpPr>
        <p:spPr>
          <a:xfrm>
            <a:off x="9467850" y="4248150"/>
            <a:ext cx="1409700" cy="1905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1275" b="1">
                <a:solidFill>
                  <a:srgbClr val="111827"/>
                </a:solidFill>
                <a:latin typeface="Helvetica Neue"/>
                <a:ea typeface="Helvetica Neue"/>
                <a:cs typeface="Helvetica Neue"/>
                <a:sym typeface="Helvetica Neue"/>
              </a:rPr>
              <a:t>{ seq, ct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0"/>
        <p:cNvGrpSpPr/>
        <p:nvPr/>
      </p:nvGrpSpPr>
      <p:grpSpPr>
        <a:xfrm>
          <a:off x="0" y="0"/>
          <a:ext cx="0" cy="0"/>
          <a:chOff x="0" y="0"/>
          <a:chExt cx="0" cy="0"/>
        </a:xfrm>
      </p:grpSpPr>
      <p:sp>
        <p:nvSpPr>
          <p:cNvPr id="41" name="Google Shape;41;p4"/>
          <p:cNvSpPr/>
          <p:nvPr/>
        </p:nvSpPr>
        <p:spPr>
          <a:xfrm>
            <a:off x="0" y="0"/>
            <a:ext cx="12192000" cy="95250"/>
          </a:xfrm>
          <a:prstGeom prst="rect">
            <a:avLst/>
          </a:prstGeom>
          <a:solidFill>
            <a:srgbClr val="3D8D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2" name="Google Shape;42;p4"/>
          <p:cNvCxnSpPr/>
          <p:nvPr/>
        </p:nvCxnSpPr>
        <p:spPr>
          <a:xfrm>
            <a:off x="400050" y="6334125"/>
            <a:ext cx="11391900" cy="953"/>
          </a:xfrm>
          <a:prstGeom prst="straightConnector1">
            <a:avLst/>
          </a:prstGeom>
          <a:noFill/>
          <a:ln w="9525" cap="flat" cmpd="sng">
            <a:solidFill>
              <a:srgbClr val="B8BCC4"/>
            </a:solidFill>
            <a:prstDash val="solid"/>
            <a:round/>
            <a:headEnd type="none" w="sm" len="sm"/>
            <a:tailEnd type="none" w="sm" len="sm"/>
          </a:ln>
        </p:spPr>
      </p:cxnSp>
      <p:sp>
        <p:nvSpPr>
          <p:cNvPr id="43" name="Google Shape;43;p4"/>
          <p:cNvSpPr/>
          <p:nvPr/>
        </p:nvSpPr>
        <p:spPr>
          <a:xfrm>
            <a:off x="11239500" y="6419850"/>
            <a:ext cx="552450" cy="209550"/>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r>
              <a:rPr lang="en-US" sz="900" b="0">
                <a:solidFill>
                  <a:srgbClr val="52606D"/>
                </a:solidFill>
                <a:latin typeface="Helvetica Neue"/>
                <a:ea typeface="Helvetica Neue"/>
                <a:cs typeface="Helvetica Neue"/>
                <a:sym typeface="Helvetica Neue"/>
              </a:rPr>
              <a:t>2</a:t>
            </a:r>
            <a:endParaRPr/>
          </a:p>
        </p:txBody>
      </p:sp>
      <p:sp>
        <p:nvSpPr>
          <p:cNvPr id="44" name="Google Shape;44;p4"/>
          <p:cNvSpPr/>
          <p:nvPr/>
        </p:nvSpPr>
        <p:spPr>
          <a:xfrm>
            <a:off x="457200" y="400050"/>
            <a:ext cx="10763250" cy="55245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150" b="1">
                <a:solidFill>
                  <a:srgbClr val="111827"/>
                </a:solidFill>
                <a:latin typeface="Helvetica Neue"/>
                <a:ea typeface="Helvetica Neue"/>
                <a:cs typeface="Helvetica Neue"/>
                <a:sym typeface="Helvetica Neue"/>
              </a:rPr>
              <a:t>TLS protects transport - not every infrastructure hop</a:t>
            </a:r>
            <a:endParaRPr/>
          </a:p>
        </p:txBody>
      </p:sp>
      <p:sp>
        <p:nvSpPr>
          <p:cNvPr id="45" name="Google Shape;45;p4"/>
          <p:cNvSpPr/>
          <p:nvPr/>
        </p:nvSpPr>
        <p:spPr>
          <a:xfrm>
            <a:off x="457200" y="1104900"/>
            <a:ext cx="10810875" cy="59055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500" b="0">
                <a:solidFill>
                  <a:srgbClr val="52606D"/>
                </a:solidFill>
                <a:latin typeface="Helvetica Neue"/>
                <a:ea typeface="Helvetica Neue"/>
                <a:cs typeface="Helvetica Neue"/>
                <a:sym typeface="Helvetica Neue"/>
              </a:rPr>
              <a:t>Modern applications often terminate TLS at a proxy, gateway, WAF, load balancer, or CDN before traffic reaches the application process.</a:t>
            </a:r>
            <a:endParaRPr/>
          </a:p>
        </p:txBody>
      </p:sp>
      <p:sp>
        <p:nvSpPr>
          <p:cNvPr id="46" name="Google Shape;46;p4"/>
          <p:cNvSpPr/>
          <p:nvPr/>
        </p:nvSpPr>
        <p:spPr>
          <a:xfrm>
            <a:off x="457200" y="2038350"/>
            <a:ext cx="5219700" cy="3505200"/>
          </a:xfrm>
          <a:prstGeom prst="rect">
            <a:avLst/>
          </a:prstGeom>
          <a:solidFill>
            <a:srgbClr val="EAF5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4"/>
          <p:cNvSpPr/>
          <p:nvPr/>
        </p:nvSpPr>
        <p:spPr>
          <a:xfrm>
            <a:off x="742950" y="2324100"/>
            <a:ext cx="2476500" cy="20955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25" b="1">
                <a:solidFill>
                  <a:srgbClr val="3D8DFF"/>
                </a:solidFill>
                <a:latin typeface="Helvetica Neue"/>
                <a:ea typeface="Helvetica Neue"/>
                <a:cs typeface="Helvetica Neue"/>
                <a:sym typeface="Helvetica Neue"/>
              </a:rPr>
              <a:t>COMMON DEPLOYMENT</a:t>
            </a:r>
            <a:endParaRPr/>
          </a:p>
        </p:txBody>
      </p:sp>
      <p:cxnSp>
        <p:nvCxnSpPr>
          <p:cNvPr id="48" name="Google Shape;48;p4"/>
          <p:cNvCxnSpPr/>
          <p:nvPr/>
        </p:nvCxnSpPr>
        <p:spPr>
          <a:xfrm>
            <a:off x="1733550" y="3314700"/>
            <a:ext cx="647700" cy="953"/>
          </a:xfrm>
          <a:prstGeom prst="straightConnector1">
            <a:avLst/>
          </a:prstGeom>
          <a:noFill/>
          <a:ln w="19050" cap="flat" cmpd="sng">
            <a:solidFill>
              <a:srgbClr val="111827"/>
            </a:solidFill>
            <a:prstDash val="solid"/>
            <a:round/>
            <a:headEnd type="none" w="sm" len="sm"/>
            <a:tailEnd type="none" w="sm" len="sm"/>
          </a:ln>
        </p:spPr>
      </p:cxnSp>
      <p:cxnSp>
        <p:nvCxnSpPr>
          <p:cNvPr id="49" name="Google Shape;49;p4"/>
          <p:cNvCxnSpPr/>
          <p:nvPr/>
        </p:nvCxnSpPr>
        <p:spPr>
          <a:xfrm>
            <a:off x="3714750" y="3314700"/>
            <a:ext cx="647700" cy="953"/>
          </a:xfrm>
          <a:prstGeom prst="straightConnector1">
            <a:avLst/>
          </a:prstGeom>
          <a:noFill/>
          <a:ln w="19050" cap="flat" cmpd="sng">
            <a:solidFill>
              <a:srgbClr val="111827"/>
            </a:solidFill>
            <a:prstDash val="solid"/>
            <a:round/>
            <a:headEnd type="none" w="sm" len="sm"/>
            <a:tailEnd type="none" w="sm" len="sm"/>
          </a:ln>
        </p:spPr>
      </p:cxnSp>
      <p:sp>
        <p:nvSpPr>
          <p:cNvPr id="50" name="Google Shape;50;p4"/>
          <p:cNvSpPr/>
          <p:nvPr/>
        </p:nvSpPr>
        <p:spPr>
          <a:xfrm>
            <a:off x="1971675" y="3086100"/>
            <a:ext cx="285750" cy="36195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2025" b="1">
                <a:solidFill>
                  <a:srgbClr val="111827"/>
                </a:solidFill>
                <a:latin typeface="Helvetica Neue"/>
                <a:ea typeface="Helvetica Neue"/>
                <a:cs typeface="Helvetica Neue"/>
                <a:sym typeface="Helvetica Neue"/>
              </a:rPr>
              <a:t>→</a:t>
            </a:r>
            <a:endParaRPr/>
          </a:p>
        </p:txBody>
      </p:sp>
      <p:sp>
        <p:nvSpPr>
          <p:cNvPr id="51" name="Google Shape;51;p4"/>
          <p:cNvSpPr/>
          <p:nvPr/>
        </p:nvSpPr>
        <p:spPr>
          <a:xfrm>
            <a:off x="3952875" y="3086100"/>
            <a:ext cx="285750" cy="36195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2025" b="1">
                <a:solidFill>
                  <a:srgbClr val="111827"/>
                </a:solidFill>
                <a:latin typeface="Helvetica Neue"/>
                <a:ea typeface="Helvetica Neue"/>
                <a:cs typeface="Helvetica Neue"/>
                <a:sym typeface="Helvetica Neue"/>
              </a:rPr>
              <a:t>→</a:t>
            </a:r>
            <a:endParaRPr/>
          </a:p>
        </p:txBody>
      </p:sp>
      <p:sp>
        <p:nvSpPr>
          <p:cNvPr id="52" name="Google Shape;52;p4"/>
          <p:cNvSpPr/>
          <p:nvPr/>
        </p:nvSpPr>
        <p:spPr>
          <a:xfrm>
            <a:off x="742950" y="2886075"/>
            <a:ext cx="1066800" cy="876300"/>
          </a:xfrm>
          <a:prstGeom prst="roundRect">
            <a:avLst>
              <a:gd name="adj" fmla="val 8696"/>
            </a:avLst>
          </a:prstGeom>
          <a:solidFill>
            <a:srgbClr val="FFFFFF"/>
          </a:solidFill>
          <a:ln w="9525" cap="flat" cmpd="sng">
            <a:solidFill>
              <a:srgbClr val="B8BCC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4"/>
          <p:cNvSpPr/>
          <p:nvPr/>
        </p:nvSpPr>
        <p:spPr>
          <a:xfrm>
            <a:off x="2381250" y="2886075"/>
            <a:ext cx="1333500" cy="876300"/>
          </a:xfrm>
          <a:prstGeom prst="roundRect">
            <a:avLst>
              <a:gd name="adj" fmla="val 8696"/>
            </a:avLst>
          </a:prstGeom>
          <a:solidFill>
            <a:srgbClr val="FCEBDD"/>
          </a:solidFill>
          <a:ln w="9525" cap="flat" cmpd="sng">
            <a:solidFill>
              <a:srgbClr val="E8792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4"/>
          <p:cNvSpPr/>
          <p:nvPr/>
        </p:nvSpPr>
        <p:spPr>
          <a:xfrm>
            <a:off x="4362450" y="2886075"/>
            <a:ext cx="1028700" cy="876300"/>
          </a:xfrm>
          <a:prstGeom prst="roundRect">
            <a:avLst>
              <a:gd name="adj" fmla="val 8696"/>
            </a:avLst>
          </a:prstGeom>
          <a:solidFill>
            <a:srgbClr val="FFFFFF"/>
          </a:solidFill>
          <a:ln w="9525" cap="flat" cmpd="sng">
            <a:solidFill>
              <a:srgbClr val="B8BCC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4"/>
          <p:cNvSpPr/>
          <p:nvPr/>
        </p:nvSpPr>
        <p:spPr>
          <a:xfrm>
            <a:off x="857250" y="3181350"/>
            <a:ext cx="838200" cy="2286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1350" b="1">
                <a:solidFill>
                  <a:srgbClr val="111827"/>
                </a:solidFill>
                <a:latin typeface="Helvetica Neue"/>
                <a:ea typeface="Helvetica Neue"/>
                <a:cs typeface="Helvetica Neue"/>
                <a:sym typeface="Helvetica Neue"/>
              </a:rPr>
              <a:t>Browser</a:t>
            </a:r>
            <a:endParaRPr/>
          </a:p>
        </p:txBody>
      </p:sp>
      <p:sp>
        <p:nvSpPr>
          <p:cNvPr id="56" name="Google Shape;56;p4"/>
          <p:cNvSpPr/>
          <p:nvPr/>
        </p:nvSpPr>
        <p:spPr>
          <a:xfrm>
            <a:off x="2514600" y="3095625"/>
            <a:ext cx="1066800" cy="2286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1350" b="1">
                <a:solidFill>
                  <a:srgbClr val="111827"/>
                </a:solidFill>
                <a:latin typeface="Helvetica Neue"/>
                <a:ea typeface="Helvetica Neue"/>
                <a:cs typeface="Helvetica Neue"/>
                <a:sym typeface="Helvetica Neue"/>
              </a:rPr>
              <a:t>TLS proxy</a:t>
            </a:r>
            <a:endParaRPr/>
          </a:p>
        </p:txBody>
      </p:sp>
      <p:sp>
        <p:nvSpPr>
          <p:cNvPr id="57" name="Google Shape;57;p4"/>
          <p:cNvSpPr/>
          <p:nvPr/>
        </p:nvSpPr>
        <p:spPr>
          <a:xfrm>
            <a:off x="2514600" y="3381375"/>
            <a:ext cx="1066800" cy="1905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1200" b="1">
                <a:solidFill>
                  <a:srgbClr val="E8792E"/>
                </a:solidFill>
                <a:latin typeface="Helvetica Neue"/>
                <a:ea typeface="Helvetica Neue"/>
                <a:cs typeface="Helvetica Neue"/>
                <a:sym typeface="Helvetica Neue"/>
              </a:rPr>
              <a:t>plaintext</a:t>
            </a:r>
            <a:endParaRPr/>
          </a:p>
        </p:txBody>
      </p:sp>
      <p:sp>
        <p:nvSpPr>
          <p:cNvPr id="58" name="Google Shape;58;p4"/>
          <p:cNvSpPr/>
          <p:nvPr/>
        </p:nvSpPr>
        <p:spPr>
          <a:xfrm>
            <a:off x="4495800" y="3181350"/>
            <a:ext cx="762000" cy="2286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1350" b="1">
                <a:solidFill>
                  <a:srgbClr val="111827"/>
                </a:solidFill>
                <a:latin typeface="Helvetica Neue"/>
                <a:ea typeface="Helvetica Neue"/>
                <a:cs typeface="Helvetica Neue"/>
                <a:sym typeface="Helvetica Neue"/>
              </a:rPr>
              <a:t>App</a:t>
            </a:r>
            <a:endParaRPr/>
          </a:p>
        </p:txBody>
      </p:sp>
      <p:sp>
        <p:nvSpPr>
          <p:cNvPr id="59" name="Google Shape;59;p4"/>
          <p:cNvSpPr/>
          <p:nvPr/>
        </p:nvSpPr>
        <p:spPr>
          <a:xfrm>
            <a:off x="742950" y="4267200"/>
            <a:ext cx="4324350" cy="7620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500" b="1">
                <a:solidFill>
                  <a:srgbClr val="111827"/>
                </a:solidFill>
                <a:latin typeface="Helvetica Neue"/>
                <a:ea typeface="Helvetica Neue"/>
                <a:cs typeface="Helvetica Neue"/>
                <a:sym typeface="Helvetica Neue"/>
              </a:rPr>
              <a:t>TLS is working correctly, yet the intermediary can inspect the decrypted WebSocket frame.</a:t>
            </a:r>
            <a:endParaRPr/>
          </a:p>
        </p:txBody>
      </p:sp>
      <p:sp>
        <p:nvSpPr>
          <p:cNvPr id="60" name="Google Shape;60;p4"/>
          <p:cNvSpPr/>
          <p:nvPr/>
        </p:nvSpPr>
        <p:spPr>
          <a:xfrm>
            <a:off x="6286500" y="2038350"/>
            <a:ext cx="2476500" cy="20955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25" b="1">
                <a:solidFill>
                  <a:srgbClr val="E8792E"/>
                </a:solidFill>
                <a:latin typeface="Helvetica Neue"/>
                <a:ea typeface="Helvetica Neue"/>
                <a:cs typeface="Helvetica Neue"/>
                <a:sym typeface="Helvetica Neue"/>
              </a:rPr>
              <a:t>WHY THIS MATTERS</a:t>
            </a:r>
            <a:endParaRPr/>
          </a:p>
        </p:txBody>
      </p:sp>
      <p:sp>
        <p:nvSpPr>
          <p:cNvPr id="61" name="Google Shape;61;p4"/>
          <p:cNvSpPr/>
          <p:nvPr/>
        </p:nvSpPr>
        <p:spPr>
          <a:xfrm>
            <a:off x="6286500" y="2447925"/>
            <a:ext cx="4953000" cy="93345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800" b="1">
                <a:solidFill>
                  <a:srgbClr val="111827"/>
                </a:solidFill>
                <a:latin typeface="Helvetica Neue"/>
                <a:ea typeface="Helvetica Neue"/>
                <a:cs typeface="Helvetica Neue"/>
                <a:sym typeface="Helvetica Neue"/>
              </a:rPr>
              <a:t>LLM prompts may carry personal data, credentials, internal business details, or other sensitive text.</a:t>
            </a:r>
            <a:endParaRPr/>
          </a:p>
        </p:txBody>
      </p:sp>
      <p:cxnSp>
        <p:nvCxnSpPr>
          <p:cNvPr id="62" name="Google Shape;62;p4"/>
          <p:cNvCxnSpPr/>
          <p:nvPr/>
        </p:nvCxnSpPr>
        <p:spPr>
          <a:xfrm>
            <a:off x="6286500" y="3667125"/>
            <a:ext cx="4953000" cy="953"/>
          </a:xfrm>
          <a:prstGeom prst="straightConnector1">
            <a:avLst/>
          </a:prstGeom>
          <a:noFill/>
          <a:ln w="9525" cap="flat" cmpd="sng">
            <a:solidFill>
              <a:srgbClr val="B8BCC4"/>
            </a:solidFill>
            <a:prstDash val="solid"/>
            <a:round/>
            <a:headEnd type="none" w="sm" len="sm"/>
            <a:tailEnd type="none" w="sm" len="sm"/>
          </a:ln>
        </p:spPr>
      </p:cxnSp>
      <p:sp>
        <p:nvSpPr>
          <p:cNvPr id="63" name="Google Shape;63;p4"/>
          <p:cNvSpPr/>
          <p:nvPr/>
        </p:nvSpPr>
        <p:spPr>
          <a:xfrm>
            <a:off x="6286500" y="4010025"/>
            <a:ext cx="2476500" cy="20955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25" b="1">
                <a:solidFill>
                  <a:srgbClr val="3D8DFF"/>
                </a:solidFill>
                <a:latin typeface="Helvetica Neue"/>
                <a:ea typeface="Helvetica Neue"/>
                <a:cs typeface="Helvetica Neue"/>
                <a:sym typeface="Helvetica Neue"/>
              </a:rPr>
              <a:t>RESEARCH QUESTION</a:t>
            </a:r>
            <a:endParaRPr/>
          </a:p>
        </p:txBody>
      </p:sp>
      <p:sp>
        <p:nvSpPr>
          <p:cNvPr id="64" name="Google Shape;64;p4"/>
          <p:cNvSpPr/>
          <p:nvPr/>
        </p:nvSpPr>
        <p:spPr>
          <a:xfrm>
            <a:off x="6286500" y="4362450"/>
            <a:ext cx="4953000" cy="100965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800" b="1">
                <a:solidFill>
                  <a:srgbClr val="111827"/>
                </a:solidFill>
                <a:latin typeface="Helvetica Neue"/>
                <a:ea typeface="Helvetica Neue"/>
                <a:cs typeface="Helvetica Neue"/>
                <a:sym typeface="Helvetica Neue"/>
              </a:rPr>
              <a:t>How does browser-to-server application-layer encryption change what intermediaries can see compared with TLS alone?</a:t>
            </a:r>
            <a:endParaRPr/>
          </a:p>
        </p:txBody>
      </p:sp>
      <p:sp>
        <p:nvSpPr>
          <p:cNvPr id="3" name="TextBox 2">
            <a:extLst>
              <a:ext uri="{FF2B5EF4-FFF2-40B4-BE49-F238E27FC236}">
                <a16:creationId xmlns:a16="http://schemas.microsoft.com/office/drawing/2014/main" id="{EF1498DB-8443-2E05-C64A-95DF601CCD1F}"/>
              </a:ext>
            </a:extLst>
          </p:cNvPr>
          <p:cNvSpPr txBox="1"/>
          <p:nvPr/>
        </p:nvSpPr>
        <p:spPr>
          <a:xfrm>
            <a:off x="457200" y="5686425"/>
            <a:ext cx="11391900" cy="338554"/>
          </a:xfrm>
          <a:prstGeom prst="rect">
            <a:avLst/>
          </a:prstGeom>
          <a:noFill/>
        </p:spPr>
        <p:txBody>
          <a:bodyPr wrap="square">
            <a:spAutoFit/>
          </a:bodyPr>
          <a:lstStyle/>
          <a:p>
            <a:pPr algn="ctr"/>
            <a:r>
              <a:rPr lang="en-US" sz="1600" b="1" dirty="0">
                <a:solidFill>
                  <a:srgbClr val="111827"/>
                </a:solidFill>
                <a:latin typeface="Helvetica Neue"/>
                <a:ea typeface="Helvetica Neue"/>
                <a:cs typeface="Helvetica Neue"/>
                <a:sym typeface="Helvetica Neue"/>
              </a:rPr>
              <a:t>This is where </a:t>
            </a:r>
            <a:r>
              <a:rPr lang="en-US" sz="1600" b="1" dirty="0" err="1">
                <a:solidFill>
                  <a:srgbClr val="111827"/>
                </a:solidFill>
                <a:latin typeface="Helvetica Neue"/>
                <a:ea typeface="Helvetica Neue"/>
                <a:cs typeface="Helvetica Neue"/>
                <a:sym typeface="Helvetica Neue"/>
              </a:rPr>
              <a:t>HPKE</a:t>
            </a:r>
            <a:r>
              <a:rPr lang="en-US" sz="1600" b="1" dirty="0">
                <a:solidFill>
                  <a:srgbClr val="111827"/>
                </a:solidFill>
                <a:latin typeface="Helvetica Neue"/>
                <a:ea typeface="Helvetica Neue"/>
                <a:cs typeface="Helvetica Neue"/>
                <a:sym typeface="Helvetica Neue"/>
              </a:rPr>
              <a:t> (</a:t>
            </a:r>
            <a:r>
              <a:rPr lang="en-US" sz="1600" b="1" dirty="0">
                <a:solidFill>
                  <a:srgbClr val="111827"/>
                </a:solidFill>
                <a:latin typeface="Helvetica Neue"/>
                <a:sym typeface="Helvetica Neue"/>
              </a:rPr>
              <a:t>Hybrid Public Key Encryption) RFC9180 </a:t>
            </a:r>
            <a:r>
              <a:rPr lang="en-US" sz="1600" b="1" dirty="0">
                <a:solidFill>
                  <a:srgbClr val="111827"/>
                </a:solidFill>
                <a:latin typeface="Helvetica Neue"/>
                <a:ea typeface="Helvetica Neue"/>
                <a:cs typeface="Helvetica Neue"/>
                <a:sym typeface="Helvetica Neue"/>
              </a:rPr>
              <a:t>comes into play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9"/>
        <p:cNvGrpSpPr/>
        <p:nvPr/>
      </p:nvGrpSpPr>
      <p:grpSpPr>
        <a:xfrm>
          <a:off x="0" y="0"/>
          <a:ext cx="0" cy="0"/>
          <a:chOff x="0" y="0"/>
          <a:chExt cx="0" cy="0"/>
        </a:xfrm>
      </p:grpSpPr>
      <p:sp>
        <p:nvSpPr>
          <p:cNvPr id="2" name="Google Shape;75;p5">
            <a:extLst>
              <a:ext uri="{FF2B5EF4-FFF2-40B4-BE49-F238E27FC236}">
                <a16:creationId xmlns:a16="http://schemas.microsoft.com/office/drawing/2014/main" id="{8170C42B-8A8D-5350-9B45-9F373335F6FF}"/>
              </a:ext>
            </a:extLst>
          </p:cNvPr>
          <p:cNvSpPr/>
          <p:nvPr/>
        </p:nvSpPr>
        <p:spPr>
          <a:xfrm>
            <a:off x="457200" y="1409700"/>
            <a:ext cx="11277600" cy="2438400"/>
          </a:xfrm>
          <a:prstGeom prst="rect">
            <a:avLst/>
          </a:prstGeom>
          <a:solidFill>
            <a:srgbClr val="EAF5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5"/>
          <p:cNvSpPr/>
          <p:nvPr/>
        </p:nvSpPr>
        <p:spPr>
          <a:xfrm>
            <a:off x="0" y="0"/>
            <a:ext cx="12192000" cy="95250"/>
          </a:xfrm>
          <a:prstGeom prst="rect">
            <a:avLst/>
          </a:prstGeom>
          <a:solidFill>
            <a:srgbClr val="3D8D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71" name="Google Shape;71;p5"/>
          <p:cNvCxnSpPr/>
          <p:nvPr/>
        </p:nvCxnSpPr>
        <p:spPr>
          <a:xfrm>
            <a:off x="400050" y="6334125"/>
            <a:ext cx="11391900" cy="953"/>
          </a:xfrm>
          <a:prstGeom prst="straightConnector1">
            <a:avLst/>
          </a:prstGeom>
          <a:noFill/>
          <a:ln w="9525" cap="flat" cmpd="sng">
            <a:solidFill>
              <a:srgbClr val="B8BCC4"/>
            </a:solidFill>
            <a:prstDash val="solid"/>
            <a:round/>
            <a:headEnd type="none" w="sm" len="sm"/>
            <a:tailEnd type="none" w="sm" len="sm"/>
          </a:ln>
        </p:spPr>
      </p:cxnSp>
      <p:sp>
        <p:nvSpPr>
          <p:cNvPr id="72" name="Google Shape;72;p5"/>
          <p:cNvSpPr/>
          <p:nvPr/>
        </p:nvSpPr>
        <p:spPr>
          <a:xfrm>
            <a:off x="11239500" y="6419850"/>
            <a:ext cx="552450" cy="209550"/>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r>
              <a:rPr lang="en-US" sz="900" b="0">
                <a:solidFill>
                  <a:srgbClr val="52606D"/>
                </a:solidFill>
                <a:latin typeface="Helvetica Neue"/>
                <a:ea typeface="Helvetica Neue"/>
                <a:cs typeface="Helvetica Neue"/>
                <a:sym typeface="Helvetica Neue"/>
              </a:rPr>
              <a:t>3</a:t>
            </a:r>
            <a:endParaRPr/>
          </a:p>
        </p:txBody>
      </p:sp>
      <p:sp>
        <p:nvSpPr>
          <p:cNvPr id="73" name="Google Shape;73;p5"/>
          <p:cNvSpPr/>
          <p:nvPr/>
        </p:nvSpPr>
        <p:spPr>
          <a:xfrm>
            <a:off x="457200" y="400050"/>
            <a:ext cx="10858500" cy="55245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200" b="1" dirty="0" err="1"/>
              <a:t>EchoVault</a:t>
            </a:r>
            <a:r>
              <a:rPr lang="en-US" sz="3200" b="1" dirty="0"/>
              <a:t> places an authenticated </a:t>
            </a:r>
            <a:r>
              <a:rPr lang="en-US" sz="3200" b="1" dirty="0" err="1"/>
              <a:t>HPKE</a:t>
            </a:r>
            <a:r>
              <a:rPr lang="en-US" sz="3200" b="1" dirty="0"/>
              <a:t> channel inside TLS</a:t>
            </a:r>
            <a:endParaRPr sz="1100" b="1" dirty="0"/>
          </a:p>
        </p:txBody>
      </p:sp>
      <p:sp>
        <p:nvSpPr>
          <p:cNvPr id="74" name="Google Shape;74;p5"/>
          <p:cNvSpPr/>
          <p:nvPr/>
        </p:nvSpPr>
        <p:spPr>
          <a:xfrm>
            <a:off x="457200" y="1432260"/>
            <a:ext cx="8858250" cy="304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500" b="0" dirty="0">
                <a:solidFill>
                  <a:srgbClr val="52606D"/>
                </a:solidFill>
                <a:latin typeface="Helvetica Neue"/>
                <a:ea typeface="Helvetica Neue"/>
                <a:cs typeface="Helvetica Neue"/>
                <a:sym typeface="Helvetica Neue"/>
              </a:rPr>
              <a:t>The proxy remains a TLS endpoint, but not an </a:t>
            </a:r>
            <a:r>
              <a:rPr lang="en-US" sz="1500" b="0" dirty="0" err="1">
                <a:solidFill>
                  <a:srgbClr val="52606D"/>
                </a:solidFill>
                <a:latin typeface="Helvetica Neue"/>
                <a:ea typeface="Helvetica Neue"/>
                <a:cs typeface="Helvetica Neue"/>
                <a:sym typeface="Helvetica Neue"/>
              </a:rPr>
              <a:t>HPKE</a:t>
            </a:r>
            <a:r>
              <a:rPr lang="en-US" sz="1500" b="0" dirty="0">
                <a:solidFill>
                  <a:srgbClr val="52606D"/>
                </a:solidFill>
                <a:latin typeface="Helvetica Neue"/>
                <a:ea typeface="Helvetica Neue"/>
                <a:cs typeface="Helvetica Neue"/>
                <a:sym typeface="Helvetica Neue"/>
              </a:rPr>
              <a:t> endpoint.</a:t>
            </a:r>
            <a:endParaRPr dirty="0"/>
          </a:p>
        </p:txBody>
      </p:sp>
      <p:sp>
        <p:nvSpPr>
          <p:cNvPr id="75" name="Google Shape;75;p5"/>
          <p:cNvSpPr/>
          <p:nvPr/>
        </p:nvSpPr>
        <p:spPr>
          <a:xfrm>
            <a:off x="457200" y="2868168"/>
            <a:ext cx="11277600" cy="2438400"/>
          </a:xfrm>
          <a:prstGeom prst="rect">
            <a:avLst/>
          </a:prstGeom>
          <a:solidFill>
            <a:srgbClr val="EAF5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5"/>
          <p:cNvSpPr/>
          <p:nvPr/>
        </p:nvSpPr>
        <p:spPr>
          <a:xfrm>
            <a:off x="3905250" y="3096768"/>
            <a:ext cx="4381500" cy="20955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1125" b="1">
                <a:solidFill>
                  <a:srgbClr val="52606D"/>
                </a:solidFill>
                <a:latin typeface="Helvetica Neue"/>
                <a:ea typeface="Helvetica Neue"/>
                <a:cs typeface="Helvetica Neue"/>
                <a:sym typeface="Helvetica Neue"/>
              </a:rPr>
              <a:t>OUTER CHANNEL · TLS 1.3 / wss://</a:t>
            </a:r>
            <a:endParaRPr/>
          </a:p>
        </p:txBody>
      </p:sp>
      <p:cxnSp>
        <p:nvCxnSpPr>
          <p:cNvPr id="77" name="Google Shape;77;p5"/>
          <p:cNvCxnSpPr/>
          <p:nvPr/>
        </p:nvCxnSpPr>
        <p:spPr>
          <a:xfrm>
            <a:off x="2895600" y="4058793"/>
            <a:ext cx="1428750" cy="953"/>
          </a:xfrm>
          <a:prstGeom prst="straightConnector1">
            <a:avLst/>
          </a:prstGeom>
          <a:noFill/>
          <a:ln w="19050" cap="flat" cmpd="sng">
            <a:solidFill>
              <a:srgbClr val="111827"/>
            </a:solidFill>
            <a:prstDash val="solid"/>
            <a:round/>
            <a:headEnd type="none" w="sm" len="sm"/>
            <a:tailEnd type="none" w="sm" len="sm"/>
          </a:ln>
        </p:spPr>
      </p:cxnSp>
      <p:cxnSp>
        <p:nvCxnSpPr>
          <p:cNvPr id="78" name="Google Shape;78;p5"/>
          <p:cNvCxnSpPr/>
          <p:nvPr/>
        </p:nvCxnSpPr>
        <p:spPr>
          <a:xfrm>
            <a:off x="7867650" y="4058793"/>
            <a:ext cx="1428750" cy="953"/>
          </a:xfrm>
          <a:prstGeom prst="straightConnector1">
            <a:avLst/>
          </a:prstGeom>
          <a:noFill/>
          <a:ln w="19050" cap="flat" cmpd="sng">
            <a:solidFill>
              <a:srgbClr val="111827"/>
            </a:solidFill>
            <a:prstDash val="solid"/>
            <a:round/>
            <a:headEnd type="none" w="sm" len="sm"/>
            <a:tailEnd type="none" w="sm" len="sm"/>
          </a:ln>
        </p:spPr>
      </p:cxnSp>
      <p:sp>
        <p:nvSpPr>
          <p:cNvPr id="79" name="Google Shape;79;p5"/>
          <p:cNvSpPr/>
          <p:nvPr/>
        </p:nvSpPr>
        <p:spPr>
          <a:xfrm>
            <a:off x="3524250" y="3820668"/>
            <a:ext cx="342900" cy="40005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2100" b="1">
                <a:solidFill>
                  <a:srgbClr val="111827"/>
                </a:solidFill>
                <a:latin typeface="Helvetica Neue"/>
                <a:ea typeface="Helvetica Neue"/>
                <a:cs typeface="Helvetica Neue"/>
                <a:sym typeface="Helvetica Neue"/>
              </a:rPr>
              <a:t>→</a:t>
            </a:r>
            <a:endParaRPr/>
          </a:p>
        </p:txBody>
      </p:sp>
      <p:sp>
        <p:nvSpPr>
          <p:cNvPr id="80" name="Google Shape;80;p5"/>
          <p:cNvSpPr/>
          <p:nvPr/>
        </p:nvSpPr>
        <p:spPr>
          <a:xfrm>
            <a:off x="8496300" y="3820668"/>
            <a:ext cx="342900" cy="40005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2100" b="1">
                <a:solidFill>
                  <a:srgbClr val="111827"/>
                </a:solidFill>
                <a:latin typeface="Helvetica Neue"/>
                <a:ea typeface="Helvetica Neue"/>
                <a:cs typeface="Helvetica Neue"/>
                <a:sym typeface="Helvetica Neue"/>
              </a:rPr>
              <a:t>→</a:t>
            </a:r>
            <a:endParaRPr/>
          </a:p>
        </p:txBody>
      </p:sp>
      <p:cxnSp>
        <p:nvCxnSpPr>
          <p:cNvPr id="81" name="Google Shape;81;p5"/>
          <p:cNvCxnSpPr/>
          <p:nvPr/>
        </p:nvCxnSpPr>
        <p:spPr>
          <a:xfrm>
            <a:off x="2266950" y="4725543"/>
            <a:ext cx="7658100" cy="953"/>
          </a:xfrm>
          <a:prstGeom prst="straightConnector1">
            <a:avLst/>
          </a:prstGeom>
          <a:noFill/>
          <a:ln w="38100" cap="flat" cmpd="sng">
            <a:solidFill>
              <a:srgbClr val="3D8DFF"/>
            </a:solidFill>
            <a:prstDash val="solid"/>
            <a:round/>
            <a:headEnd type="none" w="sm" len="sm"/>
            <a:tailEnd type="none" w="sm" len="sm"/>
          </a:ln>
        </p:spPr>
      </p:cxnSp>
      <p:sp>
        <p:nvSpPr>
          <p:cNvPr id="82" name="Google Shape;82;p5"/>
          <p:cNvSpPr/>
          <p:nvPr/>
        </p:nvSpPr>
        <p:spPr>
          <a:xfrm>
            <a:off x="4457700" y="5061204"/>
            <a:ext cx="3286125" cy="20955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1125" b="1" dirty="0">
                <a:solidFill>
                  <a:srgbClr val="00B050"/>
                </a:solidFill>
                <a:latin typeface="Helvetica Neue"/>
                <a:ea typeface="Helvetica Neue"/>
                <a:cs typeface="Helvetica Neue"/>
                <a:sym typeface="Helvetica Neue"/>
              </a:rPr>
              <a:t>AUTHENTICATED </a:t>
            </a:r>
            <a:r>
              <a:rPr lang="en-US" sz="1125" b="1" dirty="0" err="1">
                <a:solidFill>
                  <a:srgbClr val="00B050"/>
                </a:solidFill>
                <a:latin typeface="Helvetica Neue"/>
                <a:ea typeface="Helvetica Neue"/>
                <a:cs typeface="Helvetica Neue"/>
                <a:sym typeface="Helvetica Neue"/>
              </a:rPr>
              <a:t>HPKE</a:t>
            </a:r>
            <a:r>
              <a:rPr lang="en-US" sz="1125" b="1" dirty="0">
                <a:solidFill>
                  <a:srgbClr val="00B050"/>
                </a:solidFill>
                <a:latin typeface="Helvetica Neue"/>
                <a:ea typeface="Helvetica Neue"/>
                <a:cs typeface="Helvetica Neue"/>
                <a:sym typeface="Helvetica Neue"/>
              </a:rPr>
              <a:t> CHANNEL</a:t>
            </a:r>
            <a:endParaRPr dirty="0">
              <a:solidFill>
                <a:srgbClr val="00B050"/>
              </a:solidFill>
            </a:endParaRPr>
          </a:p>
        </p:txBody>
      </p:sp>
      <p:sp>
        <p:nvSpPr>
          <p:cNvPr id="83" name="Google Shape;83;p5"/>
          <p:cNvSpPr/>
          <p:nvPr/>
        </p:nvSpPr>
        <p:spPr>
          <a:xfrm>
            <a:off x="876300" y="3601593"/>
            <a:ext cx="2019300" cy="1085850"/>
          </a:xfrm>
          <a:prstGeom prst="roundRect">
            <a:avLst>
              <a:gd name="adj" fmla="val 7018"/>
            </a:avLst>
          </a:prstGeom>
          <a:solidFill>
            <a:srgbClr val="FFFFFF"/>
          </a:solidFill>
          <a:ln w="9525" cap="flat" cmpd="sng">
            <a:solidFill>
              <a:srgbClr val="B8BCC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5"/>
          <p:cNvSpPr/>
          <p:nvPr/>
        </p:nvSpPr>
        <p:spPr>
          <a:xfrm>
            <a:off x="4324350" y="3601593"/>
            <a:ext cx="3543300" cy="1085850"/>
          </a:xfrm>
          <a:prstGeom prst="roundRect">
            <a:avLst>
              <a:gd name="adj" fmla="val 7018"/>
            </a:avLst>
          </a:prstGeom>
          <a:solidFill>
            <a:srgbClr val="FCEBDD"/>
          </a:solidFill>
          <a:ln w="9525" cap="flat" cmpd="sng">
            <a:solidFill>
              <a:srgbClr val="E8792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5"/>
          <p:cNvSpPr/>
          <p:nvPr/>
        </p:nvSpPr>
        <p:spPr>
          <a:xfrm>
            <a:off x="9296400" y="3601593"/>
            <a:ext cx="2019300" cy="1085850"/>
          </a:xfrm>
          <a:prstGeom prst="roundRect">
            <a:avLst>
              <a:gd name="adj" fmla="val 7018"/>
            </a:avLst>
          </a:prstGeom>
          <a:solidFill>
            <a:srgbClr val="FFFFFF"/>
          </a:solidFill>
          <a:ln w="9525" cap="flat" cmpd="sng">
            <a:solidFill>
              <a:srgbClr val="B8BCC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5"/>
          <p:cNvSpPr/>
          <p:nvPr/>
        </p:nvSpPr>
        <p:spPr>
          <a:xfrm>
            <a:off x="1123950" y="3801618"/>
            <a:ext cx="1524000" cy="238125"/>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1575" b="1">
                <a:solidFill>
                  <a:srgbClr val="111827"/>
                </a:solidFill>
                <a:latin typeface="Helvetica Neue"/>
                <a:ea typeface="Helvetica Neue"/>
                <a:cs typeface="Helvetica Neue"/>
                <a:sym typeface="Helvetica Neue"/>
              </a:rPr>
              <a:t>BROWSER</a:t>
            </a:r>
            <a:endParaRPr/>
          </a:p>
        </p:txBody>
      </p:sp>
      <p:sp>
        <p:nvSpPr>
          <p:cNvPr id="87" name="Google Shape;87;p5"/>
          <p:cNvSpPr/>
          <p:nvPr/>
        </p:nvSpPr>
        <p:spPr>
          <a:xfrm>
            <a:off x="1066800" y="4182618"/>
            <a:ext cx="1638300" cy="20955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1200" b="0" dirty="0">
                <a:solidFill>
                  <a:srgbClr val="52606D"/>
                </a:solidFill>
                <a:latin typeface="Helvetica Neue"/>
                <a:ea typeface="Helvetica Neue"/>
                <a:cs typeface="Helvetica Neue"/>
                <a:sym typeface="Helvetica Neue"/>
              </a:rPr>
              <a:t>seals before send</a:t>
            </a:r>
            <a:endParaRPr dirty="0"/>
          </a:p>
        </p:txBody>
      </p:sp>
      <p:sp>
        <p:nvSpPr>
          <p:cNvPr id="88" name="Google Shape;88;p5"/>
          <p:cNvSpPr/>
          <p:nvPr/>
        </p:nvSpPr>
        <p:spPr>
          <a:xfrm>
            <a:off x="4629150" y="3801618"/>
            <a:ext cx="2933700" cy="238125"/>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1575" b="1">
                <a:solidFill>
                  <a:srgbClr val="111827"/>
                </a:solidFill>
                <a:latin typeface="Helvetica Neue"/>
                <a:ea typeface="Helvetica Neue"/>
                <a:cs typeface="Helvetica Neue"/>
                <a:sym typeface="Helvetica Neue"/>
              </a:rPr>
              <a:t>MITMPROXY</a:t>
            </a:r>
            <a:endParaRPr/>
          </a:p>
        </p:txBody>
      </p:sp>
      <p:sp>
        <p:nvSpPr>
          <p:cNvPr id="89" name="Google Shape;89;p5"/>
          <p:cNvSpPr/>
          <p:nvPr/>
        </p:nvSpPr>
        <p:spPr>
          <a:xfrm>
            <a:off x="4591050" y="4182618"/>
            <a:ext cx="3009900" cy="20955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1200" b="1">
                <a:solidFill>
                  <a:srgbClr val="E8792E"/>
                </a:solidFill>
                <a:latin typeface="Helvetica Neue"/>
                <a:ea typeface="Helvetica Neue"/>
                <a:cs typeface="Helvetica Neue"/>
                <a:sym typeface="Helvetica Neue"/>
              </a:rPr>
              <a:t>decrypts TLS · observes { seq, ct }</a:t>
            </a:r>
            <a:endParaRPr/>
          </a:p>
        </p:txBody>
      </p:sp>
      <p:sp>
        <p:nvSpPr>
          <p:cNvPr id="90" name="Google Shape;90;p5"/>
          <p:cNvSpPr/>
          <p:nvPr/>
        </p:nvSpPr>
        <p:spPr>
          <a:xfrm>
            <a:off x="9486900" y="3801618"/>
            <a:ext cx="1638300" cy="238125"/>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1500" b="1" dirty="0">
                <a:solidFill>
                  <a:srgbClr val="111827"/>
                </a:solidFill>
                <a:latin typeface="Helvetica Neue"/>
                <a:ea typeface="Helvetica Neue"/>
                <a:cs typeface="Helvetica Neue"/>
                <a:sym typeface="Helvetica Neue"/>
              </a:rPr>
              <a:t>Echo Server</a:t>
            </a:r>
            <a:endParaRPr dirty="0"/>
          </a:p>
        </p:txBody>
      </p:sp>
      <p:sp>
        <p:nvSpPr>
          <p:cNvPr id="91" name="Google Shape;91;p5"/>
          <p:cNvSpPr/>
          <p:nvPr/>
        </p:nvSpPr>
        <p:spPr>
          <a:xfrm>
            <a:off x="9486900" y="4182618"/>
            <a:ext cx="1638300" cy="20955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1200" b="0">
                <a:solidFill>
                  <a:srgbClr val="52606D"/>
                </a:solidFill>
                <a:latin typeface="Helvetica Neue"/>
                <a:ea typeface="Helvetica Neue"/>
                <a:cs typeface="Helvetica Neue"/>
                <a:sym typeface="Helvetica Neue"/>
              </a:rPr>
              <a:t>opens and echoes</a:t>
            </a:r>
            <a:endParaRPr/>
          </a:p>
        </p:txBody>
      </p:sp>
      <p:sp>
        <p:nvSpPr>
          <p:cNvPr id="92" name="Google Shape;92;p5"/>
          <p:cNvSpPr/>
          <p:nvPr/>
        </p:nvSpPr>
        <p:spPr>
          <a:xfrm>
            <a:off x="457200" y="5339334"/>
            <a:ext cx="2857500" cy="20955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25" b="1">
                <a:solidFill>
                  <a:srgbClr val="3D8DFF"/>
                </a:solidFill>
                <a:latin typeface="Helvetica Neue"/>
                <a:ea typeface="Helvetica Neue"/>
                <a:cs typeface="Helvetica Neue"/>
                <a:sym typeface="Helvetica Neue"/>
              </a:rPr>
              <a:t>CRYPTOGRAPHIC DESIGN</a:t>
            </a:r>
            <a:endParaRPr/>
          </a:p>
        </p:txBody>
      </p:sp>
      <p:sp>
        <p:nvSpPr>
          <p:cNvPr id="93" name="Google Shape;93;p5"/>
          <p:cNvSpPr/>
          <p:nvPr/>
        </p:nvSpPr>
        <p:spPr>
          <a:xfrm>
            <a:off x="457200" y="5529072"/>
            <a:ext cx="1714500" cy="22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500" b="1">
                <a:solidFill>
                  <a:srgbClr val="111827"/>
                </a:solidFill>
                <a:latin typeface="Helvetica Neue"/>
                <a:ea typeface="Helvetica Neue"/>
                <a:cs typeface="Helvetica Neue"/>
                <a:sym typeface="Helvetica Neue"/>
              </a:rPr>
              <a:t>Identity</a:t>
            </a:r>
            <a:endParaRPr/>
          </a:p>
        </p:txBody>
      </p:sp>
      <p:sp>
        <p:nvSpPr>
          <p:cNvPr id="94" name="Google Shape;94;p5"/>
          <p:cNvSpPr/>
          <p:nvPr/>
        </p:nvSpPr>
        <p:spPr>
          <a:xfrm>
            <a:off x="457200" y="5833872"/>
            <a:ext cx="2333625" cy="533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238" b="0">
                <a:solidFill>
                  <a:srgbClr val="52606D"/>
                </a:solidFill>
                <a:latin typeface="Helvetica Neue"/>
                <a:ea typeface="Helvetica Neue"/>
                <a:cs typeface="Helvetica Neue"/>
                <a:sym typeface="Helvetica Neue"/>
              </a:rPr>
              <a:t>BIP-39 demo identity</a:t>
            </a:r>
            <a:br>
              <a:rPr lang="en-US" sz="1238" b="0">
                <a:solidFill>
                  <a:srgbClr val="52606D"/>
                </a:solidFill>
                <a:latin typeface="Helvetica Neue"/>
                <a:ea typeface="Helvetica Neue"/>
                <a:cs typeface="Helvetica Neue"/>
                <a:sym typeface="Helvetica Neue"/>
              </a:rPr>
            </a:br>
            <a:r>
              <a:rPr lang="en-US" sz="1238" b="0">
                <a:solidFill>
                  <a:srgbClr val="52606D"/>
                </a:solidFill>
                <a:latin typeface="Helvetica Neue"/>
                <a:ea typeface="Helvetica Neue"/>
                <a:cs typeface="Helvetica Neue"/>
                <a:sym typeface="Helvetica Neue"/>
              </a:rPr>
              <a:t>Ed25519 pin + signature</a:t>
            </a:r>
            <a:endParaRPr/>
          </a:p>
        </p:txBody>
      </p:sp>
      <p:sp>
        <p:nvSpPr>
          <p:cNvPr id="95" name="Google Shape;95;p5"/>
          <p:cNvSpPr/>
          <p:nvPr/>
        </p:nvSpPr>
        <p:spPr>
          <a:xfrm>
            <a:off x="3314700" y="5529072"/>
            <a:ext cx="2857500" cy="22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500" b="1">
                <a:solidFill>
                  <a:srgbClr val="111827"/>
                </a:solidFill>
                <a:latin typeface="Helvetica Neue"/>
                <a:ea typeface="Helvetica Neue"/>
                <a:cs typeface="Helvetica Neue"/>
                <a:sym typeface="Helvetica Neue"/>
              </a:rPr>
              <a:t>Confidentiality + integrity</a:t>
            </a:r>
            <a:endParaRPr/>
          </a:p>
        </p:txBody>
      </p:sp>
      <p:sp>
        <p:nvSpPr>
          <p:cNvPr id="96" name="Google Shape;96;p5"/>
          <p:cNvSpPr/>
          <p:nvPr/>
        </p:nvSpPr>
        <p:spPr>
          <a:xfrm>
            <a:off x="3314700" y="5833872"/>
            <a:ext cx="2524125" cy="533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238" b="0">
                <a:solidFill>
                  <a:srgbClr val="52606D"/>
                </a:solidFill>
                <a:latin typeface="Helvetica Neue"/>
                <a:ea typeface="Helvetica Neue"/>
                <a:cs typeface="Helvetica Neue"/>
                <a:sym typeface="Helvetica Neue"/>
              </a:rPr>
              <a:t>X25519 · HKDF-SHA-256</a:t>
            </a:r>
            <a:br>
              <a:rPr lang="en-US" sz="1238" b="0">
                <a:solidFill>
                  <a:srgbClr val="52606D"/>
                </a:solidFill>
                <a:latin typeface="Helvetica Neue"/>
                <a:ea typeface="Helvetica Neue"/>
                <a:cs typeface="Helvetica Neue"/>
                <a:sym typeface="Helvetica Neue"/>
              </a:rPr>
            </a:br>
            <a:r>
              <a:rPr lang="en-US" sz="1238" b="0">
                <a:solidFill>
                  <a:srgbClr val="52606D"/>
                </a:solidFill>
                <a:latin typeface="Helvetica Neue"/>
                <a:ea typeface="Helvetica Neue"/>
                <a:cs typeface="Helvetica Neue"/>
                <a:sym typeface="Helvetica Neue"/>
              </a:rPr>
              <a:t>ChaCha20-Poly1305</a:t>
            </a:r>
            <a:endParaRPr/>
          </a:p>
        </p:txBody>
      </p:sp>
      <p:sp>
        <p:nvSpPr>
          <p:cNvPr id="97" name="Google Shape;97;p5"/>
          <p:cNvSpPr/>
          <p:nvPr/>
        </p:nvSpPr>
        <p:spPr>
          <a:xfrm>
            <a:off x="6743700" y="5529072"/>
            <a:ext cx="2095500" cy="22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500" b="1">
                <a:solidFill>
                  <a:srgbClr val="111827"/>
                </a:solidFill>
                <a:latin typeface="Helvetica Neue"/>
                <a:ea typeface="Helvetica Neue"/>
                <a:cs typeface="Helvetica Neue"/>
                <a:sym typeface="Helvetica Neue"/>
              </a:rPr>
              <a:t>Context binding</a:t>
            </a:r>
            <a:endParaRPr/>
          </a:p>
        </p:txBody>
      </p:sp>
      <p:sp>
        <p:nvSpPr>
          <p:cNvPr id="98" name="Google Shape;98;p5"/>
          <p:cNvSpPr/>
          <p:nvPr/>
        </p:nvSpPr>
        <p:spPr>
          <a:xfrm>
            <a:off x="6743700" y="5833872"/>
            <a:ext cx="2571750" cy="533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238" b="0">
                <a:solidFill>
                  <a:srgbClr val="52606D"/>
                </a:solidFill>
                <a:latin typeface="Helvetica Neue"/>
                <a:ea typeface="Helvetica Neue"/>
                <a:cs typeface="Helvetica Neue"/>
                <a:sym typeface="Helvetica Neue"/>
              </a:rPr>
              <a:t>session · direction · type · seq</a:t>
            </a:r>
            <a:br>
              <a:rPr lang="en-US" sz="1238" b="0">
                <a:solidFill>
                  <a:srgbClr val="52606D"/>
                </a:solidFill>
                <a:latin typeface="Helvetica Neue"/>
                <a:ea typeface="Helvetica Neue"/>
                <a:cs typeface="Helvetica Neue"/>
                <a:sym typeface="Helvetica Neue"/>
              </a:rPr>
            </a:br>
            <a:r>
              <a:rPr lang="en-US" sz="1238" b="0">
                <a:solidFill>
                  <a:srgbClr val="52606D"/>
                </a:solidFill>
                <a:latin typeface="Helvetica Neue"/>
                <a:ea typeface="Helvetica Neue"/>
                <a:cs typeface="Helvetica Neue"/>
                <a:sym typeface="Helvetica Neue"/>
              </a:rPr>
              <a:t>bound into associated data</a:t>
            </a:r>
            <a:endParaRPr/>
          </a:p>
        </p:txBody>
      </p:sp>
      <p:sp>
        <p:nvSpPr>
          <p:cNvPr id="99" name="Google Shape;99;p5"/>
          <p:cNvSpPr/>
          <p:nvPr/>
        </p:nvSpPr>
        <p:spPr>
          <a:xfrm>
            <a:off x="9810750" y="5529072"/>
            <a:ext cx="1714500" cy="22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500" b="1">
                <a:solidFill>
                  <a:srgbClr val="111827"/>
                </a:solidFill>
                <a:latin typeface="Helvetica Neue"/>
                <a:ea typeface="Helvetica Neue"/>
                <a:cs typeface="Helvetica Neue"/>
                <a:sym typeface="Helvetica Neue"/>
              </a:rPr>
              <a:t>Failure policy</a:t>
            </a:r>
            <a:endParaRPr/>
          </a:p>
        </p:txBody>
      </p:sp>
      <p:sp>
        <p:nvSpPr>
          <p:cNvPr id="100" name="Google Shape;100;p5"/>
          <p:cNvSpPr/>
          <p:nvPr/>
        </p:nvSpPr>
        <p:spPr>
          <a:xfrm>
            <a:off x="9810750" y="5833872"/>
            <a:ext cx="1809750" cy="533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238" b="0">
                <a:solidFill>
                  <a:srgbClr val="52606D"/>
                </a:solidFill>
                <a:latin typeface="Helvetica Neue"/>
                <a:ea typeface="Helvetica Neue"/>
                <a:cs typeface="Helvetica Neue"/>
                <a:sym typeface="Helvetica Neue"/>
              </a:rPr>
              <a:t>reject + teardown</a:t>
            </a:r>
            <a:br>
              <a:rPr lang="en-US" sz="1238" b="0">
                <a:solidFill>
                  <a:srgbClr val="52606D"/>
                </a:solidFill>
                <a:latin typeface="Helvetica Neue"/>
                <a:ea typeface="Helvetica Neue"/>
                <a:cs typeface="Helvetica Neue"/>
                <a:sym typeface="Helvetica Neue"/>
              </a:rPr>
            </a:br>
            <a:r>
              <a:rPr lang="en-US" sz="1238" b="0">
                <a:solidFill>
                  <a:srgbClr val="52606D"/>
                </a:solidFill>
                <a:latin typeface="Helvetica Neue"/>
                <a:ea typeface="Helvetica Neue"/>
                <a:cs typeface="Helvetica Neue"/>
                <a:sym typeface="Helvetica Neue"/>
              </a:rPr>
              <a:t>fresh handshake required</a:t>
            </a:r>
            <a:endParaRPr/>
          </a:p>
        </p:txBody>
      </p:sp>
      <p:sp>
        <p:nvSpPr>
          <p:cNvPr id="3" name="Google Shape;76;p5">
            <a:extLst>
              <a:ext uri="{FF2B5EF4-FFF2-40B4-BE49-F238E27FC236}">
                <a16:creationId xmlns:a16="http://schemas.microsoft.com/office/drawing/2014/main" id="{36E8BEFB-EE5E-24D7-BB15-D8016D1FF273}"/>
              </a:ext>
            </a:extLst>
          </p:cNvPr>
          <p:cNvSpPr/>
          <p:nvPr/>
        </p:nvSpPr>
        <p:spPr>
          <a:xfrm>
            <a:off x="3867150" y="1941957"/>
            <a:ext cx="4381500" cy="20955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1125" b="1" dirty="0">
                <a:solidFill>
                  <a:srgbClr val="52606D"/>
                </a:solidFill>
                <a:latin typeface="Helvetica Neue"/>
                <a:ea typeface="Helvetica Neue"/>
                <a:cs typeface="Helvetica Neue"/>
                <a:sym typeface="Helvetica Neue"/>
              </a:rPr>
              <a:t>CODE DELIVERY CHANNEL</a:t>
            </a:r>
            <a:endParaRPr dirty="0"/>
          </a:p>
        </p:txBody>
      </p:sp>
      <p:cxnSp>
        <p:nvCxnSpPr>
          <p:cNvPr id="4" name="Google Shape;77;p5">
            <a:extLst>
              <a:ext uri="{FF2B5EF4-FFF2-40B4-BE49-F238E27FC236}">
                <a16:creationId xmlns:a16="http://schemas.microsoft.com/office/drawing/2014/main" id="{AF38FC21-6894-58C9-4BF5-D36D6C9D59B1}"/>
              </a:ext>
            </a:extLst>
          </p:cNvPr>
          <p:cNvCxnSpPr/>
          <p:nvPr/>
        </p:nvCxnSpPr>
        <p:spPr>
          <a:xfrm>
            <a:off x="2895600" y="2600325"/>
            <a:ext cx="1428750" cy="953"/>
          </a:xfrm>
          <a:prstGeom prst="straightConnector1">
            <a:avLst/>
          </a:prstGeom>
          <a:noFill/>
          <a:ln w="19050" cap="flat" cmpd="sng">
            <a:solidFill>
              <a:srgbClr val="111827"/>
            </a:solidFill>
            <a:prstDash val="solid"/>
            <a:round/>
            <a:headEnd type="none" w="sm" len="sm"/>
            <a:tailEnd type="none" w="sm" len="sm"/>
          </a:ln>
        </p:spPr>
      </p:cxnSp>
      <p:cxnSp>
        <p:nvCxnSpPr>
          <p:cNvPr id="5" name="Google Shape;78;p5">
            <a:extLst>
              <a:ext uri="{FF2B5EF4-FFF2-40B4-BE49-F238E27FC236}">
                <a16:creationId xmlns:a16="http://schemas.microsoft.com/office/drawing/2014/main" id="{CAEDE314-EA6B-1AB2-6363-5A4D5151135B}"/>
              </a:ext>
            </a:extLst>
          </p:cNvPr>
          <p:cNvCxnSpPr/>
          <p:nvPr/>
        </p:nvCxnSpPr>
        <p:spPr>
          <a:xfrm>
            <a:off x="7867650" y="2600325"/>
            <a:ext cx="1428750" cy="953"/>
          </a:xfrm>
          <a:prstGeom prst="straightConnector1">
            <a:avLst/>
          </a:prstGeom>
          <a:noFill/>
          <a:ln w="19050" cap="flat" cmpd="sng">
            <a:solidFill>
              <a:srgbClr val="111827"/>
            </a:solidFill>
            <a:prstDash val="solid"/>
            <a:round/>
            <a:headEnd type="none" w="sm" len="sm"/>
            <a:tailEnd type="none" w="sm" len="sm"/>
          </a:ln>
        </p:spPr>
      </p:cxnSp>
      <p:sp>
        <p:nvSpPr>
          <p:cNvPr id="6" name="Google Shape;79;p5">
            <a:extLst>
              <a:ext uri="{FF2B5EF4-FFF2-40B4-BE49-F238E27FC236}">
                <a16:creationId xmlns:a16="http://schemas.microsoft.com/office/drawing/2014/main" id="{7BCAC6BE-9D65-4902-366B-A3DF9A817488}"/>
              </a:ext>
            </a:extLst>
          </p:cNvPr>
          <p:cNvSpPr/>
          <p:nvPr/>
        </p:nvSpPr>
        <p:spPr>
          <a:xfrm>
            <a:off x="3524250" y="2362200"/>
            <a:ext cx="342900" cy="40005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2100" b="1">
                <a:solidFill>
                  <a:srgbClr val="111827"/>
                </a:solidFill>
                <a:latin typeface="Helvetica Neue"/>
                <a:ea typeface="Helvetica Neue"/>
                <a:cs typeface="Helvetica Neue"/>
                <a:sym typeface="Helvetica Neue"/>
              </a:rPr>
              <a:t>→</a:t>
            </a:r>
            <a:endParaRPr/>
          </a:p>
        </p:txBody>
      </p:sp>
      <p:sp>
        <p:nvSpPr>
          <p:cNvPr id="7" name="Google Shape;80;p5">
            <a:extLst>
              <a:ext uri="{FF2B5EF4-FFF2-40B4-BE49-F238E27FC236}">
                <a16:creationId xmlns:a16="http://schemas.microsoft.com/office/drawing/2014/main" id="{AB3E2271-BBF7-164F-0E7E-360FF3FC0653}"/>
              </a:ext>
            </a:extLst>
          </p:cNvPr>
          <p:cNvSpPr/>
          <p:nvPr/>
        </p:nvSpPr>
        <p:spPr>
          <a:xfrm>
            <a:off x="8496300" y="2362200"/>
            <a:ext cx="342900" cy="40005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2100" b="1" dirty="0">
                <a:solidFill>
                  <a:srgbClr val="111827"/>
                </a:solidFill>
                <a:latin typeface="Helvetica Neue"/>
                <a:ea typeface="Helvetica Neue"/>
                <a:cs typeface="Helvetica Neue"/>
                <a:sym typeface="Helvetica Neue"/>
              </a:rPr>
              <a:t>→</a:t>
            </a:r>
            <a:endParaRPr dirty="0"/>
          </a:p>
        </p:txBody>
      </p:sp>
      <p:sp>
        <p:nvSpPr>
          <p:cNvPr id="10" name="Google Shape;83;p5">
            <a:extLst>
              <a:ext uri="{FF2B5EF4-FFF2-40B4-BE49-F238E27FC236}">
                <a16:creationId xmlns:a16="http://schemas.microsoft.com/office/drawing/2014/main" id="{4CD206CE-527B-1AC4-CB64-97EF5C58B980}"/>
              </a:ext>
            </a:extLst>
          </p:cNvPr>
          <p:cNvSpPr/>
          <p:nvPr/>
        </p:nvSpPr>
        <p:spPr>
          <a:xfrm>
            <a:off x="876300" y="2143125"/>
            <a:ext cx="2019300" cy="1085850"/>
          </a:xfrm>
          <a:prstGeom prst="roundRect">
            <a:avLst>
              <a:gd name="adj" fmla="val 7018"/>
            </a:avLst>
          </a:prstGeom>
          <a:solidFill>
            <a:srgbClr val="FFFFFF"/>
          </a:solidFill>
          <a:ln w="9525" cap="flat" cmpd="sng">
            <a:solidFill>
              <a:srgbClr val="B8BCC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84;p5">
            <a:extLst>
              <a:ext uri="{FF2B5EF4-FFF2-40B4-BE49-F238E27FC236}">
                <a16:creationId xmlns:a16="http://schemas.microsoft.com/office/drawing/2014/main" id="{E88D981E-E247-20A8-9C47-765C84681B53}"/>
              </a:ext>
            </a:extLst>
          </p:cNvPr>
          <p:cNvSpPr/>
          <p:nvPr/>
        </p:nvSpPr>
        <p:spPr>
          <a:xfrm>
            <a:off x="4324350" y="2143125"/>
            <a:ext cx="3543300" cy="1085850"/>
          </a:xfrm>
          <a:prstGeom prst="roundRect">
            <a:avLst>
              <a:gd name="adj" fmla="val 7018"/>
            </a:avLst>
          </a:prstGeom>
          <a:solidFill>
            <a:srgbClr val="FCEBDD"/>
          </a:solidFill>
          <a:ln w="9525" cap="flat" cmpd="sng">
            <a:solidFill>
              <a:srgbClr val="E8792E"/>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85;p5">
            <a:extLst>
              <a:ext uri="{FF2B5EF4-FFF2-40B4-BE49-F238E27FC236}">
                <a16:creationId xmlns:a16="http://schemas.microsoft.com/office/drawing/2014/main" id="{B3C41845-0260-9F86-618C-DFED5BC03EDD}"/>
              </a:ext>
            </a:extLst>
          </p:cNvPr>
          <p:cNvSpPr/>
          <p:nvPr/>
        </p:nvSpPr>
        <p:spPr>
          <a:xfrm>
            <a:off x="9296400" y="2143125"/>
            <a:ext cx="2019300" cy="1085850"/>
          </a:xfrm>
          <a:prstGeom prst="roundRect">
            <a:avLst>
              <a:gd name="adj" fmla="val 7018"/>
            </a:avLst>
          </a:prstGeom>
          <a:solidFill>
            <a:srgbClr val="FFFFFF"/>
          </a:solidFill>
          <a:ln w="9525" cap="flat" cmpd="sng">
            <a:solidFill>
              <a:srgbClr val="B8BCC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86;p5">
            <a:extLst>
              <a:ext uri="{FF2B5EF4-FFF2-40B4-BE49-F238E27FC236}">
                <a16:creationId xmlns:a16="http://schemas.microsoft.com/office/drawing/2014/main" id="{71A1BCE0-73B8-7FFC-5A44-1DD4DF49E724}"/>
              </a:ext>
            </a:extLst>
          </p:cNvPr>
          <p:cNvSpPr/>
          <p:nvPr/>
        </p:nvSpPr>
        <p:spPr>
          <a:xfrm>
            <a:off x="1123950" y="2343150"/>
            <a:ext cx="1524000" cy="238125"/>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1575" b="1">
                <a:solidFill>
                  <a:srgbClr val="111827"/>
                </a:solidFill>
                <a:latin typeface="Helvetica Neue"/>
                <a:ea typeface="Helvetica Neue"/>
                <a:cs typeface="Helvetica Neue"/>
                <a:sym typeface="Helvetica Neue"/>
              </a:rPr>
              <a:t>BROWSER</a:t>
            </a:r>
            <a:endParaRPr/>
          </a:p>
        </p:txBody>
      </p:sp>
      <p:sp>
        <p:nvSpPr>
          <p:cNvPr id="14" name="Google Shape;87;p5">
            <a:extLst>
              <a:ext uri="{FF2B5EF4-FFF2-40B4-BE49-F238E27FC236}">
                <a16:creationId xmlns:a16="http://schemas.microsoft.com/office/drawing/2014/main" id="{06AB4029-EF94-0DDC-8B01-D8D00892051B}"/>
              </a:ext>
            </a:extLst>
          </p:cNvPr>
          <p:cNvSpPr/>
          <p:nvPr/>
        </p:nvSpPr>
        <p:spPr>
          <a:xfrm>
            <a:off x="1066800" y="2724150"/>
            <a:ext cx="1638300" cy="20955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1200" b="0" dirty="0">
                <a:solidFill>
                  <a:srgbClr val="52606D"/>
                </a:solidFill>
                <a:latin typeface="Helvetica Neue"/>
                <a:ea typeface="Helvetica Neue"/>
                <a:cs typeface="Helvetica Neue"/>
                <a:sym typeface="Helvetica Neue"/>
              </a:rPr>
              <a:t>Receives the code that performs </a:t>
            </a:r>
            <a:r>
              <a:rPr lang="en-US" sz="1200" b="0" dirty="0" err="1">
                <a:solidFill>
                  <a:srgbClr val="52606D"/>
                </a:solidFill>
                <a:latin typeface="Helvetica Neue"/>
                <a:ea typeface="Helvetica Neue"/>
                <a:cs typeface="Helvetica Neue"/>
                <a:sym typeface="Helvetica Neue"/>
              </a:rPr>
              <a:t>HPKE</a:t>
            </a:r>
            <a:endParaRPr dirty="0"/>
          </a:p>
        </p:txBody>
      </p:sp>
      <p:sp>
        <p:nvSpPr>
          <p:cNvPr id="15" name="Google Shape;88;p5">
            <a:extLst>
              <a:ext uri="{FF2B5EF4-FFF2-40B4-BE49-F238E27FC236}">
                <a16:creationId xmlns:a16="http://schemas.microsoft.com/office/drawing/2014/main" id="{E7D049C4-2473-F19F-3F0F-426CA8E641AF}"/>
              </a:ext>
            </a:extLst>
          </p:cNvPr>
          <p:cNvSpPr/>
          <p:nvPr/>
        </p:nvSpPr>
        <p:spPr>
          <a:xfrm>
            <a:off x="4629150" y="2343150"/>
            <a:ext cx="2933700" cy="238125"/>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1575" b="1" dirty="0" err="1">
                <a:solidFill>
                  <a:srgbClr val="111827"/>
                </a:solidFill>
                <a:latin typeface="Helvetica Neue"/>
                <a:ea typeface="Helvetica Neue"/>
                <a:cs typeface="Helvetica Neue"/>
                <a:sym typeface="Helvetica Neue"/>
              </a:rPr>
              <a:t>MITMPROXY</a:t>
            </a:r>
            <a:endParaRPr lang="en-US" sz="1575" b="1" dirty="0">
              <a:solidFill>
                <a:srgbClr val="111827"/>
              </a:solidFill>
              <a:latin typeface="Helvetica Neue"/>
              <a:ea typeface="Helvetica Neue"/>
              <a:cs typeface="Helvetica Neue"/>
              <a:sym typeface="Helvetica Neue"/>
            </a:endParaRPr>
          </a:p>
          <a:p>
            <a:pPr marL="0" marR="0" lvl="0" indent="0" algn="ctr" rtl="0">
              <a:spcBef>
                <a:spcPts val="0"/>
              </a:spcBef>
              <a:spcAft>
                <a:spcPts val="0"/>
              </a:spcAft>
              <a:buNone/>
            </a:pPr>
            <a:endParaRPr lang="en-US" sz="1575" b="1" dirty="0">
              <a:solidFill>
                <a:srgbClr val="FF0000"/>
              </a:solidFill>
              <a:latin typeface="Helvetica Neue"/>
              <a:sym typeface="Helvetica Neue"/>
            </a:endParaRPr>
          </a:p>
          <a:p>
            <a:pPr marL="0" marR="0" lvl="0" indent="0" algn="ctr" rtl="0">
              <a:spcBef>
                <a:spcPts val="0"/>
              </a:spcBef>
              <a:spcAft>
                <a:spcPts val="0"/>
              </a:spcAft>
              <a:buNone/>
            </a:pPr>
            <a:r>
              <a:rPr lang="en-US" sz="1575" b="1" dirty="0">
                <a:solidFill>
                  <a:srgbClr val="FF0000"/>
                </a:solidFill>
                <a:latin typeface="Helvetica Neue"/>
                <a:sym typeface="Helvetica Neue"/>
              </a:rPr>
              <a:t>Can Inject JavaScript</a:t>
            </a:r>
            <a:endParaRPr dirty="0">
              <a:solidFill>
                <a:srgbClr val="FF0000"/>
              </a:solidFill>
            </a:endParaRPr>
          </a:p>
        </p:txBody>
      </p:sp>
      <p:sp>
        <p:nvSpPr>
          <p:cNvPr id="17" name="Google Shape;90;p5">
            <a:extLst>
              <a:ext uri="{FF2B5EF4-FFF2-40B4-BE49-F238E27FC236}">
                <a16:creationId xmlns:a16="http://schemas.microsoft.com/office/drawing/2014/main" id="{00BCD9FA-AB36-64CE-3DA0-57BE7D069832}"/>
              </a:ext>
            </a:extLst>
          </p:cNvPr>
          <p:cNvSpPr/>
          <p:nvPr/>
        </p:nvSpPr>
        <p:spPr>
          <a:xfrm>
            <a:off x="9486900" y="2343150"/>
            <a:ext cx="1638300" cy="238125"/>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1500" b="1" dirty="0">
                <a:solidFill>
                  <a:srgbClr val="111827"/>
                </a:solidFill>
                <a:latin typeface="Helvetica Neue"/>
                <a:ea typeface="Helvetica Neue"/>
                <a:cs typeface="Helvetica Neue"/>
                <a:sym typeface="Helvetica Neue"/>
              </a:rPr>
              <a:t>Next.js Client</a:t>
            </a:r>
            <a:endParaRPr dirty="0"/>
          </a:p>
        </p:txBody>
      </p:sp>
      <p:sp>
        <p:nvSpPr>
          <p:cNvPr id="18" name="Google Shape;91;p5">
            <a:extLst>
              <a:ext uri="{FF2B5EF4-FFF2-40B4-BE49-F238E27FC236}">
                <a16:creationId xmlns:a16="http://schemas.microsoft.com/office/drawing/2014/main" id="{A1F2D76C-E08E-9C5B-7A65-8D28F34C2A10}"/>
              </a:ext>
            </a:extLst>
          </p:cNvPr>
          <p:cNvSpPr/>
          <p:nvPr/>
        </p:nvSpPr>
        <p:spPr>
          <a:xfrm>
            <a:off x="9486900" y="2724150"/>
            <a:ext cx="1638300" cy="20955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1200" dirty="0">
                <a:solidFill>
                  <a:srgbClr val="52606D"/>
                </a:solidFill>
                <a:latin typeface="Helvetica Neue"/>
                <a:sym typeface="Helvetica Neue"/>
              </a:rPr>
              <a:t>Port 3000</a:t>
            </a:r>
            <a:endParaRPr dirty="0"/>
          </a:p>
        </p:txBody>
      </p:sp>
      <p:sp>
        <p:nvSpPr>
          <p:cNvPr id="20" name="Google Shape;76;p5">
            <a:extLst>
              <a:ext uri="{FF2B5EF4-FFF2-40B4-BE49-F238E27FC236}">
                <a16:creationId xmlns:a16="http://schemas.microsoft.com/office/drawing/2014/main" id="{208F289C-1A8B-3D00-B22F-8A0501458C10}"/>
              </a:ext>
            </a:extLst>
          </p:cNvPr>
          <p:cNvSpPr/>
          <p:nvPr/>
        </p:nvSpPr>
        <p:spPr>
          <a:xfrm>
            <a:off x="3867150" y="3387567"/>
            <a:ext cx="4381500" cy="20955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1125" b="1" dirty="0">
                <a:solidFill>
                  <a:srgbClr val="52606D"/>
                </a:solidFill>
                <a:latin typeface="Helvetica Neue"/>
                <a:ea typeface="Helvetica Neue"/>
                <a:cs typeface="Helvetica Neue"/>
                <a:sym typeface="Helvetica Neue"/>
              </a:rPr>
              <a:t>DATA CHANNEL</a:t>
            </a:r>
            <a:endParaRPr dirty="0"/>
          </a:p>
        </p:txBody>
      </p:sp>
      <p:sp>
        <p:nvSpPr>
          <p:cNvPr id="21" name="TextBox 20">
            <a:extLst>
              <a:ext uri="{FF2B5EF4-FFF2-40B4-BE49-F238E27FC236}">
                <a16:creationId xmlns:a16="http://schemas.microsoft.com/office/drawing/2014/main" id="{FCC9C8E7-F2C7-B011-D023-B9990CE2F849}"/>
              </a:ext>
            </a:extLst>
          </p:cNvPr>
          <p:cNvSpPr txBox="1"/>
          <p:nvPr/>
        </p:nvSpPr>
        <p:spPr>
          <a:xfrm>
            <a:off x="3172968" y="3615024"/>
            <a:ext cx="846582" cy="307777"/>
          </a:xfrm>
          <a:prstGeom prst="rect">
            <a:avLst/>
          </a:prstGeom>
          <a:noFill/>
        </p:spPr>
        <p:txBody>
          <a:bodyPr wrap="square" rtlCol="0">
            <a:spAutoFit/>
          </a:bodyPr>
          <a:lstStyle/>
          <a:p>
            <a:pPr algn="ctr"/>
            <a:r>
              <a:rPr lang="en-US" dirty="0"/>
              <a:t>TLS</a:t>
            </a:r>
          </a:p>
        </p:txBody>
      </p:sp>
      <p:sp>
        <p:nvSpPr>
          <p:cNvPr id="25" name="Google Shape;80;p5">
            <a:extLst>
              <a:ext uri="{FF2B5EF4-FFF2-40B4-BE49-F238E27FC236}">
                <a16:creationId xmlns:a16="http://schemas.microsoft.com/office/drawing/2014/main" id="{5E9106A8-31AB-B4F8-B84D-915916B2E57B}"/>
              </a:ext>
            </a:extLst>
          </p:cNvPr>
          <p:cNvSpPr/>
          <p:nvPr/>
        </p:nvSpPr>
        <p:spPr>
          <a:xfrm rot="10800000">
            <a:off x="8534400" y="2498027"/>
            <a:ext cx="266700" cy="40005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2100" b="1" dirty="0">
                <a:solidFill>
                  <a:srgbClr val="111827"/>
                </a:solidFill>
                <a:latin typeface="Helvetica Neue"/>
                <a:ea typeface="Helvetica Neue"/>
                <a:cs typeface="Helvetica Neue"/>
                <a:sym typeface="Helvetica Neue"/>
              </a:rPr>
              <a:t>→</a:t>
            </a:r>
            <a:endParaRPr dirty="0"/>
          </a:p>
        </p:txBody>
      </p:sp>
      <p:sp>
        <p:nvSpPr>
          <p:cNvPr id="27" name="Google Shape;80;p5">
            <a:extLst>
              <a:ext uri="{FF2B5EF4-FFF2-40B4-BE49-F238E27FC236}">
                <a16:creationId xmlns:a16="http://schemas.microsoft.com/office/drawing/2014/main" id="{EAFE9A22-483D-1EBA-43B6-BBA8D89BCBA3}"/>
              </a:ext>
            </a:extLst>
          </p:cNvPr>
          <p:cNvSpPr/>
          <p:nvPr/>
        </p:nvSpPr>
        <p:spPr>
          <a:xfrm rot="10800000">
            <a:off x="3552825" y="2541270"/>
            <a:ext cx="266700" cy="40005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2100" b="1" dirty="0">
                <a:solidFill>
                  <a:srgbClr val="111827"/>
                </a:solidFill>
                <a:latin typeface="Helvetica Neue"/>
                <a:ea typeface="Helvetica Neue"/>
                <a:cs typeface="Helvetica Neue"/>
                <a:sym typeface="Helvetica Neue"/>
              </a:rPr>
              <a:t>→</a:t>
            </a:r>
            <a:endParaRPr dirty="0"/>
          </a:p>
        </p:txBody>
      </p:sp>
      <p:sp>
        <p:nvSpPr>
          <p:cNvPr id="29" name="Google Shape;80;p5">
            <a:extLst>
              <a:ext uri="{FF2B5EF4-FFF2-40B4-BE49-F238E27FC236}">
                <a16:creationId xmlns:a16="http://schemas.microsoft.com/office/drawing/2014/main" id="{1845CFD7-9C35-1C4F-30B8-176BA8303ECB}"/>
              </a:ext>
            </a:extLst>
          </p:cNvPr>
          <p:cNvSpPr/>
          <p:nvPr/>
        </p:nvSpPr>
        <p:spPr>
          <a:xfrm rot="10800000">
            <a:off x="8515350" y="3949065"/>
            <a:ext cx="266700" cy="40005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2100" b="1" dirty="0">
                <a:solidFill>
                  <a:srgbClr val="111827"/>
                </a:solidFill>
                <a:latin typeface="Helvetica Neue"/>
                <a:ea typeface="Helvetica Neue"/>
                <a:cs typeface="Helvetica Neue"/>
                <a:sym typeface="Helvetica Neue"/>
              </a:rPr>
              <a:t>→</a:t>
            </a:r>
            <a:endParaRPr dirty="0"/>
          </a:p>
        </p:txBody>
      </p:sp>
      <p:sp>
        <p:nvSpPr>
          <p:cNvPr id="33" name="Google Shape;80;p5">
            <a:extLst>
              <a:ext uri="{FF2B5EF4-FFF2-40B4-BE49-F238E27FC236}">
                <a16:creationId xmlns:a16="http://schemas.microsoft.com/office/drawing/2014/main" id="{7FE4A877-5880-6C91-F431-EA04F135B6E1}"/>
              </a:ext>
            </a:extLst>
          </p:cNvPr>
          <p:cNvSpPr/>
          <p:nvPr/>
        </p:nvSpPr>
        <p:spPr>
          <a:xfrm rot="10800000">
            <a:off x="3552825" y="3928420"/>
            <a:ext cx="266700" cy="40005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2100" b="1" dirty="0">
                <a:solidFill>
                  <a:srgbClr val="111827"/>
                </a:solidFill>
                <a:latin typeface="Helvetica Neue"/>
                <a:ea typeface="Helvetica Neue"/>
                <a:cs typeface="Helvetica Neue"/>
                <a:sym typeface="Helvetica Neue"/>
              </a:rPr>
              <a:t>→</a:t>
            </a:r>
            <a:endParaRPr dirty="0"/>
          </a:p>
        </p:txBody>
      </p:sp>
      <p:sp>
        <p:nvSpPr>
          <p:cNvPr id="36" name="Google Shape;76;p5">
            <a:extLst>
              <a:ext uri="{FF2B5EF4-FFF2-40B4-BE49-F238E27FC236}">
                <a16:creationId xmlns:a16="http://schemas.microsoft.com/office/drawing/2014/main" id="{00D4983D-46CF-8039-3FC3-E19F05C1D545}"/>
              </a:ext>
            </a:extLst>
          </p:cNvPr>
          <p:cNvSpPr/>
          <p:nvPr/>
        </p:nvSpPr>
        <p:spPr>
          <a:xfrm rot="16200000">
            <a:off x="-1590675" y="3244977"/>
            <a:ext cx="4381500" cy="20955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1125" b="1" dirty="0">
                <a:solidFill>
                  <a:srgbClr val="52606D"/>
                </a:solidFill>
                <a:latin typeface="Helvetica Neue"/>
                <a:sym typeface="Helvetica Neue"/>
              </a:rPr>
              <a:t>CLIENT</a:t>
            </a:r>
            <a:endParaRPr dirty="0"/>
          </a:p>
        </p:txBody>
      </p:sp>
      <p:sp>
        <p:nvSpPr>
          <p:cNvPr id="38" name="Rectangle 37">
            <a:extLst>
              <a:ext uri="{FF2B5EF4-FFF2-40B4-BE49-F238E27FC236}">
                <a16:creationId xmlns:a16="http://schemas.microsoft.com/office/drawing/2014/main" id="{1D2F6798-B9CA-47A7-4880-E9D5EAFC3C3B}"/>
              </a:ext>
            </a:extLst>
          </p:cNvPr>
          <p:cNvSpPr/>
          <p:nvPr/>
        </p:nvSpPr>
        <p:spPr>
          <a:xfrm>
            <a:off x="704851" y="3547490"/>
            <a:ext cx="10752581" cy="1481709"/>
          </a:xfrm>
          <a:prstGeom prst="rect">
            <a:avLst/>
          </a:prstGeom>
          <a:noFill/>
          <a:ln>
            <a:solidFill>
              <a:srgbClr val="00B050"/>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5"/>
        <p:cNvGrpSpPr/>
        <p:nvPr/>
      </p:nvGrpSpPr>
      <p:grpSpPr>
        <a:xfrm>
          <a:off x="0" y="0"/>
          <a:ext cx="0" cy="0"/>
          <a:chOff x="0" y="0"/>
          <a:chExt cx="0" cy="0"/>
        </a:xfrm>
      </p:grpSpPr>
      <p:sp>
        <p:nvSpPr>
          <p:cNvPr id="106" name="Google Shape;106;p6"/>
          <p:cNvSpPr/>
          <p:nvPr/>
        </p:nvSpPr>
        <p:spPr>
          <a:xfrm>
            <a:off x="0" y="0"/>
            <a:ext cx="12192000" cy="95250"/>
          </a:xfrm>
          <a:prstGeom prst="rect">
            <a:avLst/>
          </a:prstGeom>
          <a:solidFill>
            <a:srgbClr val="3D8D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07" name="Google Shape;107;p6"/>
          <p:cNvCxnSpPr/>
          <p:nvPr/>
        </p:nvCxnSpPr>
        <p:spPr>
          <a:xfrm>
            <a:off x="400050" y="6334125"/>
            <a:ext cx="11391900" cy="953"/>
          </a:xfrm>
          <a:prstGeom prst="straightConnector1">
            <a:avLst/>
          </a:prstGeom>
          <a:noFill/>
          <a:ln w="9525" cap="flat" cmpd="sng">
            <a:solidFill>
              <a:srgbClr val="B8BCC4"/>
            </a:solidFill>
            <a:prstDash val="solid"/>
            <a:round/>
            <a:headEnd type="none" w="sm" len="sm"/>
            <a:tailEnd type="none" w="sm" len="sm"/>
          </a:ln>
        </p:spPr>
      </p:cxnSp>
      <p:sp>
        <p:nvSpPr>
          <p:cNvPr id="108" name="Google Shape;108;p6"/>
          <p:cNvSpPr/>
          <p:nvPr/>
        </p:nvSpPr>
        <p:spPr>
          <a:xfrm>
            <a:off x="11239500" y="6419850"/>
            <a:ext cx="552450" cy="209550"/>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r>
              <a:rPr lang="en-US" sz="900" b="0">
                <a:solidFill>
                  <a:srgbClr val="52606D"/>
                </a:solidFill>
                <a:latin typeface="Helvetica Neue"/>
                <a:ea typeface="Helvetica Neue"/>
                <a:cs typeface="Helvetica Neue"/>
                <a:sym typeface="Helvetica Neue"/>
              </a:rPr>
              <a:t>4</a:t>
            </a:r>
            <a:endParaRPr/>
          </a:p>
        </p:txBody>
      </p:sp>
      <p:sp>
        <p:nvSpPr>
          <p:cNvPr id="109" name="Google Shape;109;p6"/>
          <p:cNvSpPr/>
          <p:nvPr/>
        </p:nvSpPr>
        <p:spPr>
          <a:xfrm>
            <a:off x="457200" y="400050"/>
            <a:ext cx="10572750" cy="55245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150" b="1">
                <a:solidFill>
                  <a:srgbClr val="111827"/>
                </a:solidFill>
                <a:latin typeface="Helvetica Neue"/>
                <a:ea typeface="Helvetica Neue"/>
                <a:cs typeface="Helvetica Neue"/>
                <a:sym typeface="Helvetica Neue"/>
              </a:rPr>
              <a:t>The security claim is intentionally narrow</a:t>
            </a:r>
            <a:endParaRPr/>
          </a:p>
        </p:txBody>
      </p:sp>
      <p:sp>
        <p:nvSpPr>
          <p:cNvPr id="110" name="Google Shape;110;p6"/>
          <p:cNvSpPr/>
          <p:nvPr/>
        </p:nvSpPr>
        <p:spPr>
          <a:xfrm>
            <a:off x="457200" y="1104900"/>
            <a:ext cx="10572750" cy="304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500" b="0" dirty="0">
                <a:solidFill>
                  <a:srgbClr val="52606D"/>
                </a:solidFill>
                <a:latin typeface="Helvetica Neue"/>
                <a:ea typeface="Helvetica Neue"/>
                <a:cs typeface="Helvetica Neue"/>
                <a:sym typeface="Helvetica Neue"/>
              </a:rPr>
              <a:t>Protect prompt content from intermediaries after TLS termination—not from compromised endpoints.</a:t>
            </a:r>
            <a:endParaRPr dirty="0"/>
          </a:p>
        </p:txBody>
      </p:sp>
      <p:sp>
        <p:nvSpPr>
          <p:cNvPr id="111" name="Google Shape;111;p6"/>
          <p:cNvSpPr/>
          <p:nvPr/>
        </p:nvSpPr>
        <p:spPr>
          <a:xfrm>
            <a:off x="457200" y="1845564"/>
            <a:ext cx="2095500" cy="20955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25" b="1" dirty="0">
                <a:solidFill>
                  <a:srgbClr val="3D8DFF"/>
                </a:solidFill>
                <a:latin typeface="Helvetica Neue"/>
                <a:ea typeface="Helvetica Neue"/>
                <a:cs typeface="Helvetica Neue"/>
                <a:sym typeface="Helvetica Neue"/>
              </a:rPr>
              <a:t>IN SCOPE</a:t>
            </a:r>
            <a:endParaRPr dirty="0"/>
          </a:p>
        </p:txBody>
      </p:sp>
      <p:sp>
        <p:nvSpPr>
          <p:cNvPr id="112" name="Google Shape;112;p6"/>
          <p:cNvSpPr/>
          <p:nvPr/>
        </p:nvSpPr>
        <p:spPr>
          <a:xfrm>
            <a:off x="457200" y="2190750"/>
            <a:ext cx="5238750" cy="2554986"/>
          </a:xfrm>
          <a:prstGeom prst="rect">
            <a:avLst/>
          </a:prstGeom>
          <a:solidFill>
            <a:srgbClr val="EAF5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6"/>
          <p:cNvSpPr/>
          <p:nvPr/>
        </p:nvSpPr>
        <p:spPr>
          <a:xfrm>
            <a:off x="742950" y="2466975"/>
            <a:ext cx="4572000" cy="2667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800" b="1">
                <a:solidFill>
                  <a:srgbClr val="111827"/>
                </a:solidFill>
                <a:latin typeface="Helvetica Neue"/>
                <a:ea typeface="Helvetica Neue"/>
                <a:cs typeface="Helvetica Neue"/>
                <a:sym typeface="Helvetica Neue"/>
              </a:rPr>
              <a:t>Named observers and attacks</a:t>
            </a:r>
            <a:endParaRPr/>
          </a:p>
        </p:txBody>
      </p:sp>
      <p:sp>
        <p:nvSpPr>
          <p:cNvPr id="114" name="Google Shape;114;p6"/>
          <p:cNvSpPr/>
          <p:nvPr/>
        </p:nvSpPr>
        <p:spPr>
          <a:xfrm>
            <a:off x="742950" y="2952750"/>
            <a:ext cx="4476750" cy="20955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425" b="0">
                <a:solidFill>
                  <a:srgbClr val="52606D"/>
                </a:solidFill>
                <a:latin typeface="Helvetica Neue"/>
                <a:ea typeface="Helvetica Neue"/>
                <a:cs typeface="Helvetica Neue"/>
                <a:sym typeface="Helvetica Neue"/>
              </a:rPr>
              <a:t>• Passive network observer</a:t>
            </a:r>
            <a:br>
              <a:rPr lang="en-US" sz="1425" b="0">
                <a:solidFill>
                  <a:srgbClr val="52606D"/>
                </a:solidFill>
                <a:latin typeface="Helvetica Neue"/>
                <a:ea typeface="Helvetica Neue"/>
                <a:cs typeface="Helvetica Neue"/>
                <a:sym typeface="Helvetica Neue"/>
              </a:rPr>
            </a:br>
            <a:r>
              <a:rPr lang="en-US" sz="1425" b="0">
                <a:solidFill>
                  <a:srgbClr val="52606D"/>
                </a:solidFill>
                <a:latin typeface="Helvetica Neue"/>
                <a:ea typeface="Helvetica Neue"/>
                <a:cs typeface="Helvetica Neue"/>
                <a:sym typeface="Helvetica Neue"/>
              </a:rPr>
              <a:t>• TLS-terminating proxy, gateway, WAF, or load balancer</a:t>
            </a:r>
            <a:br>
              <a:rPr lang="en-US" sz="1425" b="0">
                <a:solidFill>
                  <a:srgbClr val="52606D"/>
                </a:solidFill>
                <a:latin typeface="Helvetica Neue"/>
                <a:ea typeface="Helvetica Neue"/>
                <a:cs typeface="Helvetica Neue"/>
                <a:sym typeface="Helvetica Neue"/>
              </a:rPr>
            </a:br>
            <a:r>
              <a:rPr lang="en-US" sz="1425" b="0">
                <a:solidFill>
                  <a:srgbClr val="52606D"/>
                </a:solidFill>
                <a:latin typeface="Helvetica Neue"/>
                <a:ea typeface="Helvetica Neue"/>
                <a:cs typeface="Helvetica Neue"/>
                <a:sym typeface="Helvetica Neue"/>
              </a:rPr>
              <a:t>• Key substitution and handshake tampering</a:t>
            </a:r>
            <a:br>
              <a:rPr lang="en-US" sz="1425" b="0">
                <a:solidFill>
                  <a:srgbClr val="52606D"/>
                </a:solidFill>
                <a:latin typeface="Helvetica Neue"/>
                <a:ea typeface="Helvetica Neue"/>
                <a:cs typeface="Helvetica Neue"/>
                <a:sym typeface="Helvetica Neue"/>
              </a:rPr>
            </a:br>
            <a:r>
              <a:rPr lang="en-US" sz="1425" b="0">
                <a:solidFill>
                  <a:srgbClr val="52606D"/>
                </a:solidFill>
                <a:latin typeface="Helvetica Neue"/>
                <a:ea typeface="Helvetica Neue"/>
                <a:cs typeface="Helvetica Neue"/>
                <a:sym typeface="Helvetica Neue"/>
              </a:rPr>
              <a:t>• Ciphertext tampering</a:t>
            </a:r>
            <a:br>
              <a:rPr lang="en-US" sz="1425" b="0">
                <a:solidFill>
                  <a:srgbClr val="52606D"/>
                </a:solidFill>
                <a:latin typeface="Helvetica Neue"/>
                <a:ea typeface="Helvetica Neue"/>
                <a:cs typeface="Helvetica Neue"/>
                <a:sym typeface="Helvetica Neue"/>
              </a:rPr>
            </a:br>
            <a:r>
              <a:rPr lang="en-US" sz="1425" b="0">
                <a:solidFill>
                  <a:srgbClr val="52606D"/>
                </a:solidFill>
                <a:latin typeface="Helvetica Neue"/>
                <a:ea typeface="Helvetica Neue"/>
                <a:cs typeface="Helvetica Neue"/>
                <a:sym typeface="Helvetica Neue"/>
              </a:rPr>
              <a:t>• Replay, reordering, and reflection</a:t>
            </a:r>
            <a:br>
              <a:rPr lang="en-US" sz="1425" b="0">
                <a:solidFill>
                  <a:srgbClr val="52606D"/>
                </a:solidFill>
                <a:latin typeface="Helvetica Neue"/>
                <a:ea typeface="Helvetica Neue"/>
                <a:cs typeface="Helvetica Neue"/>
                <a:sym typeface="Helvetica Neue"/>
              </a:rPr>
            </a:br>
            <a:r>
              <a:rPr lang="en-US" sz="1425" b="0">
                <a:solidFill>
                  <a:srgbClr val="52606D"/>
                </a:solidFill>
                <a:latin typeface="Helvetica Neue"/>
                <a:ea typeface="Helvetica Neue"/>
                <a:cs typeface="Helvetica Neue"/>
                <a:sym typeface="Helvetica Neue"/>
              </a:rPr>
              <a:t>• Malformed frames and accidental logging</a:t>
            </a:r>
            <a:endParaRPr/>
          </a:p>
        </p:txBody>
      </p:sp>
      <p:sp>
        <p:nvSpPr>
          <p:cNvPr id="115" name="Google Shape;115;p6"/>
          <p:cNvSpPr/>
          <p:nvPr/>
        </p:nvSpPr>
        <p:spPr>
          <a:xfrm>
            <a:off x="6371137" y="1845564"/>
            <a:ext cx="5621254" cy="287899"/>
          </a:xfrm>
          <a:prstGeom prst="rect">
            <a:avLst/>
          </a:prstGeom>
          <a:noFill/>
          <a:ln>
            <a:noFill/>
          </a:ln>
        </p:spPr>
        <p:txBody>
          <a:bodyPr spcFirstLastPara="1" wrap="square" lIns="0" tIns="0" rIns="0" bIns="0" anchor="t" anchorCtr="0">
            <a:noAutofit/>
          </a:bodyPr>
          <a:lstStyle/>
          <a:p>
            <a:pPr lvl="0"/>
            <a:r>
              <a:rPr lang="en-US" sz="1125" b="1" dirty="0" err="1">
                <a:solidFill>
                  <a:srgbClr val="E8792E"/>
                </a:solidFill>
                <a:latin typeface="Helvetica Neue"/>
              </a:rPr>
              <a:t>HPKE</a:t>
            </a:r>
            <a:r>
              <a:rPr lang="en-US" sz="1125" b="1" dirty="0">
                <a:solidFill>
                  <a:srgbClr val="E8792E"/>
                </a:solidFill>
                <a:latin typeface="Helvetica Neue"/>
              </a:rPr>
              <a:t> DOES NOT ELIMINATE ENDPOINT TRUST.</a:t>
            </a:r>
          </a:p>
        </p:txBody>
      </p:sp>
      <p:sp>
        <p:nvSpPr>
          <p:cNvPr id="116" name="Google Shape;116;p6"/>
          <p:cNvSpPr/>
          <p:nvPr/>
        </p:nvSpPr>
        <p:spPr>
          <a:xfrm>
            <a:off x="6229350" y="2190750"/>
            <a:ext cx="5505450" cy="2554986"/>
          </a:xfrm>
          <a:prstGeom prst="rect">
            <a:avLst/>
          </a:prstGeom>
          <a:solidFill>
            <a:srgbClr val="FCE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6"/>
          <p:cNvSpPr/>
          <p:nvPr/>
        </p:nvSpPr>
        <p:spPr>
          <a:xfrm>
            <a:off x="6515100" y="2466975"/>
            <a:ext cx="4762500" cy="2667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800" b="1">
                <a:solidFill>
                  <a:srgbClr val="111827"/>
                </a:solidFill>
                <a:latin typeface="Helvetica Neue"/>
                <a:ea typeface="Helvetica Neue"/>
                <a:cs typeface="Helvetica Neue"/>
                <a:sym typeface="Helvetica Neue"/>
              </a:rPr>
              <a:t>Plaintext still exists at trusted endpoints</a:t>
            </a:r>
            <a:endParaRPr/>
          </a:p>
        </p:txBody>
      </p:sp>
      <p:sp>
        <p:nvSpPr>
          <p:cNvPr id="118" name="Google Shape;118;p6"/>
          <p:cNvSpPr/>
          <p:nvPr/>
        </p:nvSpPr>
        <p:spPr>
          <a:xfrm>
            <a:off x="6515100" y="2952750"/>
            <a:ext cx="4762500" cy="20955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425" b="0" dirty="0">
                <a:solidFill>
                  <a:srgbClr val="52606D"/>
                </a:solidFill>
                <a:latin typeface="Helvetica Neue"/>
                <a:ea typeface="Helvetica Neue"/>
                <a:cs typeface="Helvetica Neue"/>
                <a:sym typeface="Helvetica Neue"/>
              </a:rPr>
              <a:t>• Intended server after </a:t>
            </a:r>
            <a:r>
              <a:rPr lang="en-US" sz="1425" b="0" dirty="0" err="1">
                <a:solidFill>
                  <a:srgbClr val="52606D"/>
                </a:solidFill>
                <a:latin typeface="Helvetica Neue"/>
                <a:ea typeface="Helvetica Neue"/>
                <a:cs typeface="Helvetica Neue"/>
                <a:sym typeface="Helvetica Neue"/>
              </a:rPr>
              <a:t>HPKE</a:t>
            </a:r>
            <a:r>
              <a:rPr lang="en-US" sz="1425" b="0" dirty="0">
                <a:solidFill>
                  <a:srgbClr val="52606D"/>
                </a:solidFill>
                <a:latin typeface="Helvetica Neue"/>
                <a:ea typeface="Helvetica Neue"/>
                <a:cs typeface="Helvetica Neue"/>
                <a:sym typeface="Helvetica Neue"/>
              </a:rPr>
              <a:t> decryption</a:t>
            </a:r>
            <a:br>
              <a:rPr lang="en-US" sz="1425" b="0" dirty="0">
                <a:solidFill>
                  <a:srgbClr val="52606D"/>
                </a:solidFill>
                <a:latin typeface="Helvetica Neue"/>
                <a:ea typeface="Helvetica Neue"/>
                <a:cs typeface="Helvetica Neue"/>
                <a:sym typeface="Helvetica Neue"/>
              </a:rPr>
            </a:br>
            <a:r>
              <a:rPr lang="en-US" sz="1425" b="0" dirty="0">
                <a:solidFill>
                  <a:srgbClr val="52606D"/>
                </a:solidFill>
                <a:latin typeface="Helvetica Neue"/>
                <a:ea typeface="Helvetica Neue"/>
                <a:cs typeface="Helvetica Neue"/>
                <a:sym typeface="Helvetica Neue"/>
              </a:rPr>
              <a:t>• Compromised browser or malicious extension</a:t>
            </a:r>
            <a:br>
              <a:rPr lang="en-US" sz="1425" b="0" dirty="0">
                <a:solidFill>
                  <a:srgbClr val="52606D"/>
                </a:solidFill>
                <a:latin typeface="Helvetica Neue"/>
                <a:ea typeface="Helvetica Neue"/>
                <a:cs typeface="Helvetica Neue"/>
                <a:sym typeface="Helvetica Neue"/>
              </a:rPr>
            </a:br>
            <a:r>
              <a:rPr lang="en-US" sz="1425" b="0" dirty="0">
                <a:solidFill>
                  <a:srgbClr val="52606D"/>
                </a:solidFill>
                <a:latin typeface="Helvetica Neue"/>
                <a:ea typeface="Helvetica Neue"/>
                <a:cs typeface="Helvetica Neue"/>
                <a:sym typeface="Helvetica Neue"/>
              </a:rPr>
              <a:t>• Modified frontend JavaScript or build pipeline</a:t>
            </a:r>
            <a:br>
              <a:rPr lang="en-US" sz="1425" b="0" dirty="0">
                <a:solidFill>
                  <a:srgbClr val="52606D"/>
                </a:solidFill>
                <a:latin typeface="Helvetica Neue"/>
                <a:ea typeface="Helvetica Neue"/>
                <a:cs typeface="Helvetica Neue"/>
                <a:sym typeface="Helvetica Neue"/>
              </a:rPr>
            </a:br>
            <a:r>
              <a:rPr lang="en-US" sz="1425" b="0" dirty="0">
                <a:solidFill>
                  <a:srgbClr val="52606D"/>
                </a:solidFill>
                <a:latin typeface="Helvetica Neue"/>
                <a:ea typeface="Helvetica Neue"/>
                <a:cs typeface="Helvetica Neue"/>
                <a:sym typeface="Helvetica Neue"/>
              </a:rPr>
              <a:t>• Root or administrative access to server memory</a:t>
            </a:r>
            <a:br>
              <a:rPr lang="en-US" sz="1425" b="0" dirty="0">
                <a:solidFill>
                  <a:srgbClr val="52606D"/>
                </a:solidFill>
                <a:latin typeface="Helvetica Neue"/>
                <a:ea typeface="Helvetica Neue"/>
                <a:cs typeface="Helvetica Neue"/>
                <a:sym typeface="Helvetica Neue"/>
              </a:rPr>
            </a:br>
            <a:r>
              <a:rPr lang="en-US" sz="1425" b="0" dirty="0">
                <a:solidFill>
                  <a:srgbClr val="52606D"/>
                </a:solidFill>
                <a:latin typeface="Helvetica Neue"/>
                <a:ea typeface="Helvetica Neue"/>
                <a:cs typeface="Helvetica Neue"/>
                <a:sym typeface="Helvetica Neue"/>
              </a:rPr>
              <a:t>• Stolen long-term keys and production key management</a:t>
            </a:r>
            <a:br>
              <a:rPr lang="en-US" sz="1425" b="0" dirty="0">
                <a:solidFill>
                  <a:srgbClr val="52606D"/>
                </a:solidFill>
                <a:latin typeface="Helvetica Neue"/>
                <a:ea typeface="Helvetica Neue"/>
                <a:cs typeface="Helvetica Neue"/>
                <a:sym typeface="Helvetica Neue"/>
              </a:rPr>
            </a:br>
            <a:r>
              <a:rPr lang="en-US" sz="1425" b="0" dirty="0">
                <a:solidFill>
                  <a:srgbClr val="52606D"/>
                </a:solidFill>
                <a:latin typeface="Helvetica Neue"/>
                <a:ea typeface="Helvetica Neue"/>
                <a:cs typeface="Helvetica Neue"/>
                <a:sym typeface="Helvetica Neue"/>
              </a:rPr>
              <a:t>• Metadata and denial-of-service protection</a:t>
            </a:r>
          </a:p>
          <a:p>
            <a:pPr marL="0" marR="0" lvl="0" indent="0" algn="l" rtl="0">
              <a:spcBef>
                <a:spcPts val="0"/>
              </a:spcBef>
              <a:spcAft>
                <a:spcPts val="0"/>
              </a:spcAft>
              <a:buNone/>
            </a:pPr>
            <a:endParaRPr lang="en-US" sz="1425" b="0" dirty="0">
              <a:solidFill>
                <a:srgbClr val="52606D"/>
              </a:solidFill>
              <a:latin typeface="Helvetica Neue"/>
              <a:ea typeface="Helvetica Neue"/>
              <a:cs typeface="Helvetica Neue"/>
              <a:sym typeface="Helvetica Neue"/>
            </a:endParaRPr>
          </a:p>
          <a:p>
            <a:pPr marL="0" marR="0" lvl="0" indent="0" algn="l" rtl="0">
              <a:spcBef>
                <a:spcPts val="0"/>
              </a:spcBef>
              <a:spcAft>
                <a:spcPts val="0"/>
              </a:spcAft>
              <a:buNone/>
            </a:pPr>
            <a:endParaRPr lang="en-US" sz="1425" dirty="0">
              <a:solidFill>
                <a:srgbClr val="52606D"/>
              </a:solidFill>
              <a:latin typeface="Helvetica Neue"/>
              <a:sym typeface="Helvetica Neue"/>
            </a:endParaRPr>
          </a:p>
          <a:p>
            <a:pPr marL="0" marR="0" lvl="0" indent="0" algn="l" rtl="0">
              <a:spcBef>
                <a:spcPts val="0"/>
              </a:spcBef>
              <a:spcAft>
                <a:spcPts val="0"/>
              </a:spcAft>
              <a:buNone/>
            </a:pPr>
            <a:endParaRPr dirty="0"/>
          </a:p>
        </p:txBody>
      </p:sp>
      <p:sp>
        <p:nvSpPr>
          <p:cNvPr id="119" name="Google Shape;119;p6"/>
          <p:cNvSpPr/>
          <p:nvPr/>
        </p:nvSpPr>
        <p:spPr>
          <a:xfrm>
            <a:off x="457200" y="5638800"/>
            <a:ext cx="11277600" cy="485775"/>
          </a:xfrm>
          <a:prstGeom prst="rect">
            <a:avLst/>
          </a:prstGeom>
          <a:solidFill>
            <a:srgbClr val="1118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6"/>
          <p:cNvSpPr/>
          <p:nvPr/>
        </p:nvSpPr>
        <p:spPr>
          <a:xfrm>
            <a:off x="742950" y="5781675"/>
            <a:ext cx="10706100" cy="2286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1500" b="1" dirty="0">
                <a:solidFill>
                  <a:srgbClr val="FFFFFF"/>
                </a:solidFill>
                <a:latin typeface="Helvetica Neue"/>
                <a:ea typeface="Helvetica Neue"/>
                <a:cs typeface="Helvetica Neue"/>
                <a:sym typeface="Helvetica Neue"/>
              </a:rPr>
              <a:t>Scoped E2E definition: browser → intended echo-server process.</a:t>
            </a:r>
            <a:endParaRP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25"/>
        <p:cNvGrpSpPr/>
        <p:nvPr/>
      </p:nvGrpSpPr>
      <p:grpSpPr>
        <a:xfrm>
          <a:off x="0" y="0"/>
          <a:ext cx="0" cy="0"/>
          <a:chOff x="0" y="0"/>
          <a:chExt cx="0" cy="0"/>
        </a:xfrm>
      </p:grpSpPr>
      <p:sp>
        <p:nvSpPr>
          <p:cNvPr id="126" name="Google Shape;126;p7"/>
          <p:cNvSpPr/>
          <p:nvPr/>
        </p:nvSpPr>
        <p:spPr>
          <a:xfrm>
            <a:off x="0" y="0"/>
            <a:ext cx="12192000" cy="95250"/>
          </a:xfrm>
          <a:prstGeom prst="rect">
            <a:avLst/>
          </a:prstGeom>
          <a:solidFill>
            <a:srgbClr val="3D8D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27" name="Google Shape;127;p7"/>
          <p:cNvCxnSpPr/>
          <p:nvPr/>
        </p:nvCxnSpPr>
        <p:spPr>
          <a:xfrm>
            <a:off x="400050" y="6334125"/>
            <a:ext cx="11391900" cy="953"/>
          </a:xfrm>
          <a:prstGeom prst="straightConnector1">
            <a:avLst/>
          </a:prstGeom>
          <a:noFill/>
          <a:ln w="9525" cap="flat" cmpd="sng">
            <a:solidFill>
              <a:srgbClr val="B8BCC4"/>
            </a:solidFill>
            <a:prstDash val="solid"/>
            <a:round/>
            <a:headEnd type="none" w="sm" len="sm"/>
            <a:tailEnd type="none" w="sm" len="sm"/>
          </a:ln>
        </p:spPr>
      </p:cxnSp>
      <p:sp>
        <p:nvSpPr>
          <p:cNvPr id="128" name="Google Shape;128;p7"/>
          <p:cNvSpPr/>
          <p:nvPr/>
        </p:nvSpPr>
        <p:spPr>
          <a:xfrm>
            <a:off x="11239500" y="6419850"/>
            <a:ext cx="552450" cy="209550"/>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r>
              <a:rPr lang="en-US" sz="900" b="0">
                <a:solidFill>
                  <a:srgbClr val="52606D"/>
                </a:solidFill>
                <a:latin typeface="Helvetica Neue"/>
                <a:ea typeface="Helvetica Neue"/>
                <a:cs typeface="Helvetica Neue"/>
                <a:sym typeface="Helvetica Neue"/>
              </a:rPr>
              <a:t>5</a:t>
            </a:r>
            <a:endParaRPr/>
          </a:p>
        </p:txBody>
      </p:sp>
      <p:sp>
        <p:nvSpPr>
          <p:cNvPr id="129" name="Google Shape;129;p7"/>
          <p:cNvSpPr/>
          <p:nvPr/>
        </p:nvSpPr>
        <p:spPr>
          <a:xfrm>
            <a:off x="457200" y="400050"/>
            <a:ext cx="10763250" cy="55245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150" b="1" dirty="0">
                <a:solidFill>
                  <a:srgbClr val="111827"/>
                </a:solidFill>
                <a:latin typeface="Helvetica Neue"/>
                <a:ea typeface="Helvetica Neue"/>
                <a:cs typeface="Helvetica Neue"/>
                <a:sym typeface="Helvetica Neue"/>
              </a:rPr>
              <a:t>The live demo changes one variable: the E2E toggle</a:t>
            </a:r>
            <a:endParaRPr dirty="0"/>
          </a:p>
        </p:txBody>
      </p:sp>
      <p:cxnSp>
        <p:nvCxnSpPr>
          <p:cNvPr id="131" name="Google Shape;131;p7"/>
          <p:cNvCxnSpPr/>
          <p:nvPr/>
        </p:nvCxnSpPr>
        <p:spPr>
          <a:xfrm>
            <a:off x="742950" y="2324100"/>
            <a:ext cx="10477500" cy="953"/>
          </a:xfrm>
          <a:prstGeom prst="straightConnector1">
            <a:avLst/>
          </a:prstGeom>
          <a:noFill/>
          <a:ln w="19050" cap="flat" cmpd="sng">
            <a:solidFill>
              <a:srgbClr val="B8BCC4"/>
            </a:solidFill>
            <a:prstDash val="solid"/>
            <a:round/>
            <a:headEnd type="none" w="sm" len="sm"/>
            <a:tailEnd type="none" w="sm" len="sm"/>
          </a:ln>
        </p:spPr>
      </p:cxnSp>
      <p:sp>
        <p:nvSpPr>
          <p:cNvPr id="132" name="Google Shape;132;p7"/>
          <p:cNvSpPr/>
          <p:nvPr/>
        </p:nvSpPr>
        <p:spPr>
          <a:xfrm>
            <a:off x="685800" y="2247900"/>
            <a:ext cx="152400" cy="152400"/>
          </a:xfrm>
          <a:prstGeom prst="ellipse">
            <a:avLst/>
          </a:prstGeom>
          <a:solidFill>
            <a:srgbClr val="3D8D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7"/>
          <p:cNvSpPr/>
          <p:nvPr/>
        </p:nvSpPr>
        <p:spPr>
          <a:xfrm>
            <a:off x="685800" y="1857375"/>
            <a:ext cx="2000250" cy="22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200" b="1" dirty="0">
                <a:solidFill>
                  <a:srgbClr val="3D8DFF"/>
                </a:solidFill>
                <a:latin typeface="Helvetica Neue"/>
                <a:ea typeface="Helvetica Neue"/>
                <a:cs typeface="Helvetica Neue"/>
                <a:sym typeface="Helvetica Neue"/>
              </a:rPr>
              <a:t>1 · BASELINE</a:t>
            </a:r>
            <a:endParaRPr dirty="0"/>
          </a:p>
        </p:txBody>
      </p:sp>
      <p:sp>
        <p:nvSpPr>
          <p:cNvPr id="134" name="Google Shape;134;p7"/>
          <p:cNvSpPr/>
          <p:nvPr/>
        </p:nvSpPr>
        <p:spPr>
          <a:xfrm>
            <a:off x="457200" y="2705100"/>
            <a:ext cx="3048000" cy="2000250"/>
          </a:xfrm>
          <a:prstGeom prst="rect">
            <a:avLst/>
          </a:prstGeom>
          <a:solidFill>
            <a:srgbClr val="F2F4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7"/>
          <p:cNvSpPr/>
          <p:nvPr/>
        </p:nvSpPr>
        <p:spPr>
          <a:xfrm>
            <a:off x="685800" y="2962275"/>
            <a:ext cx="2571750" cy="28575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950" b="1">
                <a:solidFill>
                  <a:srgbClr val="111827"/>
                </a:solidFill>
                <a:latin typeface="Helvetica Neue"/>
                <a:ea typeface="Helvetica Neue"/>
                <a:cs typeface="Helvetica Neue"/>
                <a:sym typeface="Helvetica Neue"/>
              </a:rPr>
              <a:t>Start all green</a:t>
            </a:r>
            <a:endParaRPr/>
          </a:p>
        </p:txBody>
      </p:sp>
      <p:sp>
        <p:nvSpPr>
          <p:cNvPr id="136" name="Google Shape;136;p7"/>
          <p:cNvSpPr/>
          <p:nvPr/>
        </p:nvSpPr>
        <p:spPr>
          <a:xfrm>
            <a:off x="685800" y="3429000"/>
            <a:ext cx="2476500" cy="89535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500" b="0">
                <a:solidFill>
                  <a:srgbClr val="52606D"/>
                </a:solidFill>
                <a:latin typeface="Helvetica Neue"/>
                <a:ea typeface="Helvetica Neue"/>
                <a:cs typeface="Helvetica Neue"/>
                <a:sym typeface="Helvetica Neue"/>
              </a:rPr>
              <a:t>Pin verified</a:t>
            </a:r>
            <a:br>
              <a:rPr lang="en-US" sz="1500" b="0">
                <a:solidFill>
                  <a:srgbClr val="52606D"/>
                </a:solidFill>
                <a:latin typeface="Helvetica Neue"/>
                <a:ea typeface="Helvetica Neue"/>
                <a:cs typeface="Helvetica Neue"/>
                <a:sym typeface="Helvetica Neue"/>
              </a:rPr>
            </a:br>
            <a:r>
              <a:rPr lang="en-US" sz="1500" b="0">
                <a:solidFill>
                  <a:srgbClr val="52606D"/>
                </a:solidFill>
                <a:latin typeface="Helvetica Neue"/>
                <a:ea typeface="Helvetica Neue"/>
                <a:cs typeface="Helvetica Neue"/>
                <a:sym typeface="Helvetica Neue"/>
              </a:rPr>
              <a:t>Connected</a:t>
            </a:r>
            <a:br>
              <a:rPr lang="en-US" sz="1500" b="0">
                <a:solidFill>
                  <a:srgbClr val="52606D"/>
                </a:solidFill>
                <a:latin typeface="Helvetica Neue"/>
                <a:ea typeface="Helvetica Neue"/>
                <a:cs typeface="Helvetica Neue"/>
                <a:sym typeface="Helvetica Neue"/>
              </a:rPr>
            </a:br>
            <a:r>
              <a:rPr lang="en-US" sz="1500" b="0">
                <a:solidFill>
                  <a:srgbClr val="52606D"/>
                </a:solidFill>
                <a:latin typeface="Helvetica Neue"/>
                <a:ea typeface="Helvetica Neue"/>
                <a:cs typeface="Helvetica Neue"/>
                <a:sym typeface="Helvetica Neue"/>
              </a:rPr>
              <a:t>Encrypted session ready</a:t>
            </a:r>
            <a:endParaRPr/>
          </a:p>
        </p:txBody>
      </p:sp>
      <p:sp>
        <p:nvSpPr>
          <p:cNvPr id="139" name="Google Shape;139;p7"/>
          <p:cNvSpPr/>
          <p:nvPr/>
        </p:nvSpPr>
        <p:spPr>
          <a:xfrm>
            <a:off x="685800" y="5524500"/>
            <a:ext cx="942975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500" b="1" dirty="0">
                <a:solidFill>
                  <a:srgbClr val="FFFFFF"/>
                </a:solidFill>
                <a:latin typeface="Helvetica Neue"/>
                <a:ea typeface="Helvetica Neue"/>
                <a:cs typeface="Helvetica Neue"/>
                <a:sym typeface="Helvetica Neue"/>
              </a:rPr>
              <a:t>TLS-only exposes the prompt at termination. </a:t>
            </a:r>
            <a:r>
              <a:rPr lang="en-US" sz="1500" b="1" dirty="0" err="1">
                <a:solidFill>
                  <a:srgbClr val="FFFFFF"/>
                </a:solidFill>
                <a:latin typeface="Helvetica Neue"/>
                <a:ea typeface="Helvetica Neue"/>
                <a:cs typeface="Helvetica Neue"/>
                <a:sym typeface="Helvetica Neue"/>
              </a:rPr>
              <a:t>HPKE</a:t>
            </a:r>
            <a:r>
              <a:rPr lang="en-US" sz="1500" b="1" dirty="0">
                <a:solidFill>
                  <a:srgbClr val="FFFFFF"/>
                </a:solidFill>
                <a:latin typeface="Helvetica Neue"/>
                <a:ea typeface="Helvetica Neue"/>
                <a:cs typeface="Helvetica Neue"/>
                <a:sym typeface="Helvetica Neue"/>
              </a:rPr>
              <a:t> hides the payload from that same intermediary. Active manipulation fails closed.</a:t>
            </a:r>
            <a:endParaRPr dirty="0"/>
          </a:p>
        </p:txBody>
      </p:sp>
      <p:pic>
        <p:nvPicPr>
          <p:cNvPr id="2" name="2026-07-21 19-21-49">
            <a:hlinkClick r:id="" action="ppaction://media"/>
            <a:extLst>
              <a:ext uri="{FF2B5EF4-FFF2-40B4-BE49-F238E27FC236}">
                <a16:creationId xmlns:a16="http://schemas.microsoft.com/office/drawing/2014/main" id="{86617B36-D033-E0FE-DFA1-1C2F9F8E9F6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3657600" y="1143000"/>
            <a:ext cx="8128001" cy="4572000"/>
          </a:xfrm>
          <a:prstGeom prst="rect">
            <a:avLst/>
          </a:prstGeom>
          <a:ln>
            <a:noFill/>
          </a:ln>
          <a:effectLst>
            <a:outerShdw blurRad="292100" dist="139700" dir="2700000" algn="tl" rotWithShape="0">
              <a:srgbClr val="333333">
                <a:alpha val="65000"/>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2017"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5">
          <a:extLst>
            <a:ext uri="{FF2B5EF4-FFF2-40B4-BE49-F238E27FC236}">
              <a16:creationId xmlns:a16="http://schemas.microsoft.com/office/drawing/2014/main" id="{E8F69BF7-13D8-0474-DB16-F93E5796B616}"/>
            </a:ext>
          </a:extLst>
        </p:cNvPr>
        <p:cNvGrpSpPr/>
        <p:nvPr/>
      </p:nvGrpSpPr>
      <p:grpSpPr>
        <a:xfrm>
          <a:off x="0" y="0"/>
          <a:ext cx="0" cy="0"/>
          <a:chOff x="0" y="0"/>
          <a:chExt cx="0" cy="0"/>
        </a:xfrm>
      </p:grpSpPr>
      <p:sp>
        <p:nvSpPr>
          <p:cNvPr id="126" name="Google Shape;126;p7">
            <a:extLst>
              <a:ext uri="{FF2B5EF4-FFF2-40B4-BE49-F238E27FC236}">
                <a16:creationId xmlns:a16="http://schemas.microsoft.com/office/drawing/2014/main" id="{C88EFFA8-F5BE-B01A-07D4-CB812F4E966C}"/>
              </a:ext>
            </a:extLst>
          </p:cNvPr>
          <p:cNvSpPr/>
          <p:nvPr/>
        </p:nvSpPr>
        <p:spPr>
          <a:xfrm>
            <a:off x="0" y="0"/>
            <a:ext cx="12192000" cy="95250"/>
          </a:xfrm>
          <a:prstGeom prst="rect">
            <a:avLst/>
          </a:prstGeom>
          <a:solidFill>
            <a:srgbClr val="3D8D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27" name="Google Shape;127;p7">
            <a:extLst>
              <a:ext uri="{FF2B5EF4-FFF2-40B4-BE49-F238E27FC236}">
                <a16:creationId xmlns:a16="http://schemas.microsoft.com/office/drawing/2014/main" id="{C23948B1-EF45-9ABF-A218-723BD961D1FD}"/>
              </a:ext>
            </a:extLst>
          </p:cNvPr>
          <p:cNvCxnSpPr/>
          <p:nvPr/>
        </p:nvCxnSpPr>
        <p:spPr>
          <a:xfrm>
            <a:off x="400050" y="6334125"/>
            <a:ext cx="11391900" cy="953"/>
          </a:xfrm>
          <a:prstGeom prst="straightConnector1">
            <a:avLst/>
          </a:prstGeom>
          <a:noFill/>
          <a:ln w="9525" cap="flat" cmpd="sng">
            <a:solidFill>
              <a:srgbClr val="B8BCC4"/>
            </a:solidFill>
            <a:prstDash val="solid"/>
            <a:round/>
            <a:headEnd type="none" w="sm" len="sm"/>
            <a:tailEnd type="none" w="sm" len="sm"/>
          </a:ln>
        </p:spPr>
      </p:cxnSp>
      <p:sp>
        <p:nvSpPr>
          <p:cNvPr id="128" name="Google Shape;128;p7">
            <a:extLst>
              <a:ext uri="{FF2B5EF4-FFF2-40B4-BE49-F238E27FC236}">
                <a16:creationId xmlns:a16="http://schemas.microsoft.com/office/drawing/2014/main" id="{DB54476E-F8D3-F5CE-7585-9C0534D60537}"/>
              </a:ext>
            </a:extLst>
          </p:cNvPr>
          <p:cNvSpPr/>
          <p:nvPr/>
        </p:nvSpPr>
        <p:spPr>
          <a:xfrm>
            <a:off x="11239500" y="6419850"/>
            <a:ext cx="552450" cy="209550"/>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r>
              <a:rPr lang="en-US" sz="900" b="0">
                <a:solidFill>
                  <a:srgbClr val="52606D"/>
                </a:solidFill>
                <a:latin typeface="Helvetica Neue"/>
                <a:ea typeface="Helvetica Neue"/>
                <a:cs typeface="Helvetica Neue"/>
                <a:sym typeface="Helvetica Neue"/>
              </a:rPr>
              <a:t>5</a:t>
            </a:r>
            <a:endParaRPr/>
          </a:p>
        </p:txBody>
      </p:sp>
      <p:sp>
        <p:nvSpPr>
          <p:cNvPr id="129" name="Google Shape;129;p7">
            <a:extLst>
              <a:ext uri="{FF2B5EF4-FFF2-40B4-BE49-F238E27FC236}">
                <a16:creationId xmlns:a16="http://schemas.microsoft.com/office/drawing/2014/main" id="{9F878B88-FCC8-809A-57A5-AE4B6CF83DB8}"/>
              </a:ext>
            </a:extLst>
          </p:cNvPr>
          <p:cNvSpPr/>
          <p:nvPr/>
        </p:nvSpPr>
        <p:spPr>
          <a:xfrm>
            <a:off x="457200" y="400050"/>
            <a:ext cx="10763250" cy="55245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150" b="1" dirty="0">
                <a:solidFill>
                  <a:srgbClr val="111827"/>
                </a:solidFill>
                <a:latin typeface="Helvetica Neue"/>
                <a:ea typeface="Helvetica Neue"/>
                <a:cs typeface="Helvetica Neue"/>
                <a:sym typeface="Helvetica Neue"/>
              </a:rPr>
              <a:t>The live demo changes one variable: the E2E toggle</a:t>
            </a:r>
            <a:endParaRPr dirty="0"/>
          </a:p>
        </p:txBody>
      </p:sp>
      <p:cxnSp>
        <p:nvCxnSpPr>
          <p:cNvPr id="131" name="Google Shape;131;p7">
            <a:extLst>
              <a:ext uri="{FF2B5EF4-FFF2-40B4-BE49-F238E27FC236}">
                <a16:creationId xmlns:a16="http://schemas.microsoft.com/office/drawing/2014/main" id="{714BAFDE-3FDA-301C-2D49-64BCC4B045A5}"/>
              </a:ext>
            </a:extLst>
          </p:cNvPr>
          <p:cNvCxnSpPr/>
          <p:nvPr/>
        </p:nvCxnSpPr>
        <p:spPr>
          <a:xfrm>
            <a:off x="742950" y="2324100"/>
            <a:ext cx="10477500" cy="953"/>
          </a:xfrm>
          <a:prstGeom prst="straightConnector1">
            <a:avLst/>
          </a:prstGeom>
          <a:noFill/>
          <a:ln w="19050" cap="flat" cmpd="sng">
            <a:solidFill>
              <a:srgbClr val="B8BCC4"/>
            </a:solidFill>
            <a:prstDash val="solid"/>
            <a:round/>
            <a:headEnd type="none" w="sm" len="sm"/>
            <a:tailEnd type="none" w="sm" len="sm"/>
          </a:ln>
        </p:spPr>
      </p:cxnSp>
      <p:sp>
        <p:nvSpPr>
          <p:cNvPr id="132" name="Google Shape;132;p7">
            <a:extLst>
              <a:ext uri="{FF2B5EF4-FFF2-40B4-BE49-F238E27FC236}">
                <a16:creationId xmlns:a16="http://schemas.microsoft.com/office/drawing/2014/main" id="{D35A2483-DE8E-D902-6FB9-833B02FFE491}"/>
              </a:ext>
            </a:extLst>
          </p:cNvPr>
          <p:cNvSpPr/>
          <p:nvPr/>
        </p:nvSpPr>
        <p:spPr>
          <a:xfrm>
            <a:off x="685800" y="2247900"/>
            <a:ext cx="152400" cy="152400"/>
          </a:xfrm>
          <a:prstGeom prst="ellipse">
            <a:avLst/>
          </a:prstGeom>
          <a:solidFill>
            <a:srgbClr val="3D8D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7">
            <a:extLst>
              <a:ext uri="{FF2B5EF4-FFF2-40B4-BE49-F238E27FC236}">
                <a16:creationId xmlns:a16="http://schemas.microsoft.com/office/drawing/2014/main" id="{C2A9AC50-200D-A7FA-E90B-B98D4D6CCCF1}"/>
              </a:ext>
            </a:extLst>
          </p:cNvPr>
          <p:cNvSpPr/>
          <p:nvPr/>
        </p:nvSpPr>
        <p:spPr>
          <a:xfrm>
            <a:off x="685800" y="1857375"/>
            <a:ext cx="2000250" cy="22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200" b="1" dirty="0">
                <a:solidFill>
                  <a:srgbClr val="3D8DFF"/>
                </a:solidFill>
                <a:latin typeface="Helvetica Neue"/>
                <a:ea typeface="Helvetica Neue"/>
                <a:cs typeface="Helvetica Neue"/>
                <a:sym typeface="Helvetica Neue"/>
              </a:rPr>
              <a:t>1 · BASELINE</a:t>
            </a:r>
            <a:endParaRPr dirty="0"/>
          </a:p>
        </p:txBody>
      </p:sp>
      <p:sp>
        <p:nvSpPr>
          <p:cNvPr id="134" name="Google Shape;134;p7">
            <a:extLst>
              <a:ext uri="{FF2B5EF4-FFF2-40B4-BE49-F238E27FC236}">
                <a16:creationId xmlns:a16="http://schemas.microsoft.com/office/drawing/2014/main" id="{CEDDDA6E-C103-9BD4-F8AB-9ACEECF5D970}"/>
              </a:ext>
            </a:extLst>
          </p:cNvPr>
          <p:cNvSpPr/>
          <p:nvPr/>
        </p:nvSpPr>
        <p:spPr>
          <a:xfrm>
            <a:off x="457200" y="2705100"/>
            <a:ext cx="3048000" cy="2000250"/>
          </a:xfrm>
          <a:prstGeom prst="rect">
            <a:avLst/>
          </a:prstGeom>
          <a:solidFill>
            <a:srgbClr val="F2F4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7">
            <a:extLst>
              <a:ext uri="{FF2B5EF4-FFF2-40B4-BE49-F238E27FC236}">
                <a16:creationId xmlns:a16="http://schemas.microsoft.com/office/drawing/2014/main" id="{D1D913D3-5D07-2478-B9BA-77E027ADA4F8}"/>
              </a:ext>
            </a:extLst>
          </p:cNvPr>
          <p:cNvSpPr/>
          <p:nvPr/>
        </p:nvSpPr>
        <p:spPr>
          <a:xfrm>
            <a:off x="685800" y="2962275"/>
            <a:ext cx="2571750" cy="28575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950" b="1">
                <a:solidFill>
                  <a:srgbClr val="111827"/>
                </a:solidFill>
                <a:latin typeface="Helvetica Neue"/>
                <a:ea typeface="Helvetica Neue"/>
                <a:cs typeface="Helvetica Neue"/>
                <a:sym typeface="Helvetica Neue"/>
              </a:rPr>
              <a:t>Start all green</a:t>
            </a:r>
            <a:endParaRPr/>
          </a:p>
        </p:txBody>
      </p:sp>
      <p:sp>
        <p:nvSpPr>
          <p:cNvPr id="136" name="Google Shape;136;p7">
            <a:extLst>
              <a:ext uri="{FF2B5EF4-FFF2-40B4-BE49-F238E27FC236}">
                <a16:creationId xmlns:a16="http://schemas.microsoft.com/office/drawing/2014/main" id="{66E5045F-E28E-65DF-D62D-9FC71611142A}"/>
              </a:ext>
            </a:extLst>
          </p:cNvPr>
          <p:cNvSpPr/>
          <p:nvPr/>
        </p:nvSpPr>
        <p:spPr>
          <a:xfrm>
            <a:off x="685800" y="3429000"/>
            <a:ext cx="2476500" cy="89535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500" b="0">
                <a:solidFill>
                  <a:srgbClr val="52606D"/>
                </a:solidFill>
                <a:latin typeface="Helvetica Neue"/>
                <a:ea typeface="Helvetica Neue"/>
                <a:cs typeface="Helvetica Neue"/>
                <a:sym typeface="Helvetica Neue"/>
              </a:rPr>
              <a:t>Pin verified</a:t>
            </a:r>
            <a:br>
              <a:rPr lang="en-US" sz="1500" b="0">
                <a:solidFill>
                  <a:srgbClr val="52606D"/>
                </a:solidFill>
                <a:latin typeface="Helvetica Neue"/>
                <a:ea typeface="Helvetica Neue"/>
                <a:cs typeface="Helvetica Neue"/>
                <a:sym typeface="Helvetica Neue"/>
              </a:rPr>
            </a:br>
            <a:r>
              <a:rPr lang="en-US" sz="1500" b="0">
                <a:solidFill>
                  <a:srgbClr val="52606D"/>
                </a:solidFill>
                <a:latin typeface="Helvetica Neue"/>
                <a:ea typeface="Helvetica Neue"/>
                <a:cs typeface="Helvetica Neue"/>
                <a:sym typeface="Helvetica Neue"/>
              </a:rPr>
              <a:t>Connected</a:t>
            </a:r>
            <a:br>
              <a:rPr lang="en-US" sz="1500" b="0">
                <a:solidFill>
                  <a:srgbClr val="52606D"/>
                </a:solidFill>
                <a:latin typeface="Helvetica Neue"/>
                <a:ea typeface="Helvetica Neue"/>
                <a:cs typeface="Helvetica Neue"/>
                <a:sym typeface="Helvetica Neue"/>
              </a:rPr>
            </a:br>
            <a:r>
              <a:rPr lang="en-US" sz="1500" b="0">
                <a:solidFill>
                  <a:srgbClr val="52606D"/>
                </a:solidFill>
                <a:latin typeface="Helvetica Neue"/>
                <a:ea typeface="Helvetica Neue"/>
                <a:cs typeface="Helvetica Neue"/>
                <a:sym typeface="Helvetica Neue"/>
              </a:rPr>
              <a:t>Encrypted session ready</a:t>
            </a:r>
            <a:endParaRPr/>
          </a:p>
        </p:txBody>
      </p:sp>
      <p:sp>
        <p:nvSpPr>
          <p:cNvPr id="139" name="Google Shape;139;p7">
            <a:extLst>
              <a:ext uri="{FF2B5EF4-FFF2-40B4-BE49-F238E27FC236}">
                <a16:creationId xmlns:a16="http://schemas.microsoft.com/office/drawing/2014/main" id="{635C38D0-BC0A-FF0B-9C25-0CCD62D2FAB5}"/>
              </a:ext>
            </a:extLst>
          </p:cNvPr>
          <p:cNvSpPr/>
          <p:nvPr/>
        </p:nvSpPr>
        <p:spPr>
          <a:xfrm>
            <a:off x="685800" y="5524500"/>
            <a:ext cx="942975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500" b="1" dirty="0">
                <a:solidFill>
                  <a:srgbClr val="FFFFFF"/>
                </a:solidFill>
                <a:latin typeface="Helvetica Neue"/>
                <a:ea typeface="Helvetica Neue"/>
                <a:cs typeface="Helvetica Neue"/>
                <a:sym typeface="Helvetica Neue"/>
              </a:rPr>
              <a:t>TLS-only exposes the prompt at termination. </a:t>
            </a:r>
            <a:r>
              <a:rPr lang="en-US" sz="1500" b="1" dirty="0" err="1">
                <a:solidFill>
                  <a:srgbClr val="FFFFFF"/>
                </a:solidFill>
                <a:latin typeface="Helvetica Neue"/>
                <a:ea typeface="Helvetica Neue"/>
                <a:cs typeface="Helvetica Neue"/>
                <a:sym typeface="Helvetica Neue"/>
              </a:rPr>
              <a:t>HPKE</a:t>
            </a:r>
            <a:r>
              <a:rPr lang="en-US" sz="1500" b="1" dirty="0">
                <a:solidFill>
                  <a:srgbClr val="FFFFFF"/>
                </a:solidFill>
                <a:latin typeface="Helvetica Neue"/>
                <a:ea typeface="Helvetica Neue"/>
                <a:cs typeface="Helvetica Neue"/>
                <a:sym typeface="Helvetica Neue"/>
              </a:rPr>
              <a:t> hides the payload from that same intermediary. Active manipulation fails closed.</a:t>
            </a:r>
            <a:endParaRPr dirty="0"/>
          </a:p>
        </p:txBody>
      </p:sp>
      <p:pic>
        <p:nvPicPr>
          <p:cNvPr id="3" name="2026-07-21 19-22-24">
            <a:hlinkClick r:id="" action="ppaction://media"/>
            <a:extLst>
              <a:ext uri="{FF2B5EF4-FFF2-40B4-BE49-F238E27FC236}">
                <a16:creationId xmlns:a16="http://schemas.microsoft.com/office/drawing/2014/main" id="{DBA904C0-416C-F3A9-505D-832A8EDEE953}"/>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3657600" y="1143000"/>
            <a:ext cx="8128001" cy="4572000"/>
          </a:xfrm>
          <a:prstGeom prst="rect">
            <a:avLst/>
          </a:prstGeom>
        </p:spPr>
      </p:pic>
    </p:spTree>
    <p:extLst>
      <p:ext uri="{BB962C8B-B14F-4D97-AF65-F5344CB8AC3E}">
        <p14:creationId xmlns:p14="http://schemas.microsoft.com/office/powerpoint/2010/main" val="21231927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7634"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68"/>
        <p:cNvGrpSpPr/>
        <p:nvPr/>
      </p:nvGrpSpPr>
      <p:grpSpPr>
        <a:xfrm>
          <a:off x="0" y="0"/>
          <a:ext cx="0" cy="0"/>
          <a:chOff x="0" y="0"/>
          <a:chExt cx="0" cy="0"/>
        </a:xfrm>
      </p:grpSpPr>
      <p:sp>
        <p:nvSpPr>
          <p:cNvPr id="178" name="Google Shape;178;p9"/>
          <p:cNvSpPr/>
          <p:nvPr/>
        </p:nvSpPr>
        <p:spPr>
          <a:xfrm>
            <a:off x="685800" y="1857375"/>
            <a:ext cx="2000100" cy="22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200" b="1" dirty="0">
                <a:solidFill>
                  <a:srgbClr val="E8792E"/>
                </a:solidFill>
                <a:latin typeface="Helvetica Neue"/>
                <a:ea typeface="Helvetica Neue"/>
                <a:cs typeface="Helvetica Neue"/>
                <a:sym typeface="Helvetica Neue"/>
              </a:rPr>
              <a:t>2 · VISIBILITY</a:t>
            </a:r>
            <a:endParaRPr dirty="0"/>
          </a:p>
        </p:txBody>
      </p:sp>
      <p:cxnSp>
        <p:nvCxnSpPr>
          <p:cNvPr id="174" name="Google Shape;174;p9"/>
          <p:cNvCxnSpPr/>
          <p:nvPr/>
        </p:nvCxnSpPr>
        <p:spPr>
          <a:xfrm>
            <a:off x="742950" y="2324100"/>
            <a:ext cx="10477500" cy="900"/>
          </a:xfrm>
          <a:prstGeom prst="straightConnector1">
            <a:avLst/>
          </a:prstGeom>
          <a:noFill/>
          <a:ln w="19050" cap="flat" cmpd="sng">
            <a:solidFill>
              <a:srgbClr val="B8BCC4"/>
            </a:solidFill>
            <a:prstDash val="solid"/>
            <a:round/>
            <a:headEnd type="none" w="sm" len="sm"/>
            <a:tailEnd type="none" w="sm" len="sm"/>
          </a:ln>
        </p:spPr>
      </p:cxnSp>
      <p:sp>
        <p:nvSpPr>
          <p:cNvPr id="176" name="Google Shape;176;p9"/>
          <p:cNvSpPr/>
          <p:nvPr/>
        </p:nvSpPr>
        <p:spPr>
          <a:xfrm>
            <a:off x="685800" y="2242709"/>
            <a:ext cx="152400" cy="152400"/>
          </a:xfrm>
          <a:prstGeom prst="ellipse">
            <a:avLst/>
          </a:prstGeom>
          <a:solidFill>
            <a:srgbClr val="E8792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9"/>
          <p:cNvSpPr/>
          <p:nvPr/>
        </p:nvSpPr>
        <p:spPr>
          <a:xfrm>
            <a:off x="0" y="0"/>
            <a:ext cx="12192000" cy="95400"/>
          </a:xfrm>
          <a:prstGeom prst="rect">
            <a:avLst/>
          </a:prstGeom>
          <a:solidFill>
            <a:srgbClr val="3D8D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70" name="Google Shape;170;p9"/>
          <p:cNvCxnSpPr/>
          <p:nvPr/>
        </p:nvCxnSpPr>
        <p:spPr>
          <a:xfrm>
            <a:off x="400050" y="6334125"/>
            <a:ext cx="11391900" cy="900"/>
          </a:xfrm>
          <a:prstGeom prst="straightConnector1">
            <a:avLst/>
          </a:prstGeom>
          <a:noFill/>
          <a:ln w="9525" cap="flat" cmpd="sng">
            <a:solidFill>
              <a:srgbClr val="B8BCC4"/>
            </a:solidFill>
            <a:prstDash val="solid"/>
            <a:round/>
            <a:headEnd type="none" w="sm" len="sm"/>
            <a:tailEnd type="none" w="sm" len="sm"/>
          </a:ln>
        </p:spPr>
      </p:cxnSp>
      <p:sp>
        <p:nvSpPr>
          <p:cNvPr id="171" name="Google Shape;171;p9"/>
          <p:cNvSpPr/>
          <p:nvPr/>
        </p:nvSpPr>
        <p:spPr>
          <a:xfrm>
            <a:off x="11239500" y="6419850"/>
            <a:ext cx="552600" cy="209700"/>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r>
              <a:rPr lang="en-US" sz="900">
                <a:solidFill>
                  <a:srgbClr val="52606D"/>
                </a:solidFill>
                <a:latin typeface="Helvetica Neue"/>
                <a:ea typeface="Helvetica Neue"/>
                <a:cs typeface="Helvetica Neue"/>
                <a:sym typeface="Helvetica Neue"/>
              </a:rPr>
              <a:t>7</a:t>
            </a:r>
            <a:endParaRPr/>
          </a:p>
        </p:txBody>
      </p:sp>
      <p:sp>
        <p:nvSpPr>
          <p:cNvPr id="172" name="Google Shape;172;p9"/>
          <p:cNvSpPr/>
          <p:nvPr/>
        </p:nvSpPr>
        <p:spPr>
          <a:xfrm>
            <a:off x="457200" y="400050"/>
            <a:ext cx="10763400" cy="552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150" b="1" dirty="0">
                <a:solidFill>
                  <a:srgbClr val="111827"/>
                </a:solidFill>
                <a:latin typeface="Helvetica Neue"/>
                <a:ea typeface="Helvetica Neue"/>
                <a:cs typeface="Helvetica Neue"/>
                <a:sym typeface="Helvetica Neue"/>
              </a:rPr>
              <a:t>The live demo changes one variable: the E2E toggle</a:t>
            </a:r>
            <a:endParaRPr dirty="0"/>
          </a:p>
        </p:txBody>
      </p:sp>
      <p:grpSp>
        <p:nvGrpSpPr>
          <p:cNvPr id="2" name="Group 1">
            <a:extLst>
              <a:ext uri="{FF2B5EF4-FFF2-40B4-BE49-F238E27FC236}">
                <a16:creationId xmlns:a16="http://schemas.microsoft.com/office/drawing/2014/main" id="{2540C91A-F533-9F66-3E69-329CABB1898D}"/>
              </a:ext>
            </a:extLst>
          </p:cNvPr>
          <p:cNvGrpSpPr/>
          <p:nvPr/>
        </p:nvGrpSpPr>
        <p:grpSpPr>
          <a:xfrm>
            <a:off x="457200" y="2696400"/>
            <a:ext cx="3048000" cy="2000100"/>
            <a:chOff x="3981450" y="2705100"/>
            <a:chExt cx="3048000" cy="2000100"/>
          </a:xfrm>
        </p:grpSpPr>
        <p:sp>
          <p:nvSpPr>
            <p:cNvPr id="180" name="Google Shape;180;p9"/>
            <p:cNvSpPr/>
            <p:nvPr/>
          </p:nvSpPr>
          <p:spPr>
            <a:xfrm>
              <a:off x="3981450" y="2705100"/>
              <a:ext cx="3048000" cy="2000100"/>
            </a:xfrm>
            <a:prstGeom prst="rect">
              <a:avLst/>
            </a:prstGeom>
            <a:solidFill>
              <a:srgbClr val="FCE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9"/>
            <p:cNvSpPr/>
            <p:nvPr/>
          </p:nvSpPr>
          <p:spPr>
            <a:xfrm>
              <a:off x="4210050" y="2962275"/>
              <a:ext cx="2571900" cy="2859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950" b="1" dirty="0">
                  <a:solidFill>
                    <a:srgbClr val="111827"/>
                  </a:solidFill>
                  <a:latin typeface="Helvetica Neue"/>
                  <a:ea typeface="Helvetica Neue"/>
                  <a:cs typeface="Helvetica Neue"/>
                  <a:sym typeface="Helvetica Neue"/>
                </a:rPr>
                <a:t>Inspect the proxy</a:t>
              </a:r>
              <a:endParaRPr dirty="0"/>
            </a:p>
          </p:txBody>
        </p:sp>
        <p:sp>
          <p:nvSpPr>
            <p:cNvPr id="184" name="Google Shape;184;p9"/>
            <p:cNvSpPr/>
            <p:nvPr/>
          </p:nvSpPr>
          <p:spPr>
            <a:xfrm>
              <a:off x="4210050" y="3429000"/>
              <a:ext cx="2476500" cy="8955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500" b="0" dirty="0">
                  <a:solidFill>
                    <a:srgbClr val="52606D"/>
                  </a:solidFill>
                  <a:latin typeface="Helvetica Neue"/>
                  <a:ea typeface="Helvetica Neue"/>
                  <a:cs typeface="Helvetica Neue"/>
                  <a:sym typeface="Helvetica Neue"/>
                </a:rPr>
                <a:t>E2E OFF → prompt readable</a:t>
              </a:r>
              <a:br>
                <a:rPr lang="en-US" sz="1500" b="0" dirty="0">
                  <a:solidFill>
                    <a:srgbClr val="52606D"/>
                  </a:solidFill>
                  <a:latin typeface="Helvetica Neue"/>
                  <a:ea typeface="Helvetica Neue"/>
                  <a:cs typeface="Helvetica Neue"/>
                  <a:sym typeface="Helvetica Neue"/>
                </a:rPr>
              </a:br>
              <a:r>
                <a:rPr lang="en-US" sz="1500" b="0" dirty="0">
                  <a:solidFill>
                    <a:srgbClr val="52606D"/>
                  </a:solidFill>
                  <a:latin typeface="Helvetica Neue"/>
                  <a:ea typeface="Helvetica Neue"/>
                  <a:cs typeface="Helvetica Neue"/>
                  <a:sym typeface="Helvetica Neue"/>
                </a:rPr>
                <a:t>E2E ON → { seq, </a:t>
              </a:r>
              <a:r>
                <a:rPr lang="en-US" sz="1500" b="0" dirty="0" err="1">
                  <a:solidFill>
                    <a:srgbClr val="52606D"/>
                  </a:solidFill>
                  <a:latin typeface="Helvetica Neue"/>
                  <a:ea typeface="Helvetica Neue"/>
                  <a:cs typeface="Helvetica Neue"/>
                  <a:sym typeface="Helvetica Neue"/>
                </a:rPr>
                <a:t>ct</a:t>
              </a:r>
              <a:r>
                <a:rPr lang="en-US" sz="1500" b="0" dirty="0">
                  <a:solidFill>
                    <a:srgbClr val="52606D"/>
                  </a:solidFill>
                  <a:latin typeface="Helvetica Neue"/>
                  <a:ea typeface="Helvetica Neue"/>
                  <a:cs typeface="Helvetica Neue"/>
                  <a:sym typeface="Helvetica Neue"/>
                </a:rPr>
                <a:t> } only</a:t>
              </a:r>
              <a:endParaRPr dirty="0"/>
            </a:p>
          </p:txBody>
        </p:sp>
      </p:grpSp>
      <p:pic>
        <p:nvPicPr>
          <p:cNvPr id="5" name="2026-07-21 19-24-21">
            <a:hlinkClick r:id="" action="ppaction://media"/>
            <a:extLst>
              <a:ext uri="{FF2B5EF4-FFF2-40B4-BE49-F238E27FC236}">
                <a16:creationId xmlns:a16="http://schemas.microsoft.com/office/drawing/2014/main" id="{3242AF88-7581-1D5B-F680-BCEAD58CB2A8}"/>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3657600" y="1143000"/>
            <a:ext cx="8128000" cy="4572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1100"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92"/>
        <p:cNvGrpSpPr/>
        <p:nvPr/>
      </p:nvGrpSpPr>
      <p:grpSpPr>
        <a:xfrm>
          <a:off x="0" y="0"/>
          <a:ext cx="0" cy="0"/>
          <a:chOff x="0" y="0"/>
          <a:chExt cx="0" cy="0"/>
        </a:xfrm>
      </p:grpSpPr>
      <p:sp>
        <p:nvSpPr>
          <p:cNvPr id="193" name="Google Shape;193;p10"/>
          <p:cNvSpPr/>
          <p:nvPr/>
        </p:nvSpPr>
        <p:spPr>
          <a:xfrm>
            <a:off x="0" y="0"/>
            <a:ext cx="12192000" cy="95400"/>
          </a:xfrm>
          <a:prstGeom prst="rect">
            <a:avLst/>
          </a:prstGeom>
          <a:solidFill>
            <a:srgbClr val="3D8D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94" name="Google Shape;194;p10"/>
          <p:cNvCxnSpPr/>
          <p:nvPr/>
        </p:nvCxnSpPr>
        <p:spPr>
          <a:xfrm>
            <a:off x="400050" y="6334125"/>
            <a:ext cx="11391900" cy="900"/>
          </a:xfrm>
          <a:prstGeom prst="straightConnector1">
            <a:avLst/>
          </a:prstGeom>
          <a:noFill/>
          <a:ln w="9525" cap="flat" cmpd="sng">
            <a:solidFill>
              <a:srgbClr val="B8BCC4"/>
            </a:solidFill>
            <a:prstDash val="solid"/>
            <a:round/>
            <a:headEnd type="none" w="sm" len="sm"/>
            <a:tailEnd type="none" w="sm" len="sm"/>
          </a:ln>
        </p:spPr>
      </p:cxnSp>
      <p:sp>
        <p:nvSpPr>
          <p:cNvPr id="195" name="Google Shape;195;p10"/>
          <p:cNvSpPr/>
          <p:nvPr/>
        </p:nvSpPr>
        <p:spPr>
          <a:xfrm>
            <a:off x="11239500" y="6419850"/>
            <a:ext cx="552600" cy="209700"/>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r>
              <a:rPr lang="en-US" sz="900">
                <a:solidFill>
                  <a:srgbClr val="52606D"/>
                </a:solidFill>
                <a:latin typeface="Helvetica Neue"/>
                <a:ea typeface="Helvetica Neue"/>
                <a:cs typeface="Helvetica Neue"/>
                <a:sym typeface="Helvetica Neue"/>
              </a:rPr>
              <a:t>8</a:t>
            </a:r>
            <a:endParaRPr/>
          </a:p>
        </p:txBody>
      </p:sp>
      <p:sp>
        <p:nvSpPr>
          <p:cNvPr id="196" name="Google Shape;196;p10"/>
          <p:cNvSpPr/>
          <p:nvPr/>
        </p:nvSpPr>
        <p:spPr>
          <a:xfrm>
            <a:off x="457200" y="400050"/>
            <a:ext cx="10763400" cy="552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150" b="1" dirty="0">
                <a:solidFill>
                  <a:srgbClr val="111827"/>
                </a:solidFill>
                <a:latin typeface="Helvetica Neue"/>
                <a:ea typeface="Helvetica Neue"/>
                <a:cs typeface="Helvetica Neue"/>
                <a:sym typeface="Helvetica Neue"/>
              </a:rPr>
              <a:t>The live demo changes one variable: Code Delivery</a:t>
            </a:r>
            <a:endParaRPr dirty="0"/>
          </a:p>
        </p:txBody>
      </p:sp>
      <p:cxnSp>
        <p:nvCxnSpPr>
          <p:cNvPr id="198" name="Google Shape;198;p10"/>
          <p:cNvCxnSpPr/>
          <p:nvPr/>
        </p:nvCxnSpPr>
        <p:spPr>
          <a:xfrm>
            <a:off x="742950" y="2324100"/>
            <a:ext cx="10477500" cy="900"/>
          </a:xfrm>
          <a:prstGeom prst="straightConnector1">
            <a:avLst/>
          </a:prstGeom>
          <a:noFill/>
          <a:ln w="19050" cap="flat" cmpd="sng">
            <a:solidFill>
              <a:srgbClr val="B8BCC4"/>
            </a:solidFill>
            <a:prstDash val="solid"/>
            <a:round/>
            <a:headEnd type="none" w="sm" len="sm"/>
            <a:tailEnd type="none" w="sm" len="sm"/>
          </a:ln>
        </p:spPr>
      </p:cxnSp>
      <p:sp>
        <p:nvSpPr>
          <p:cNvPr id="199" name="Google Shape;199;p10"/>
          <p:cNvSpPr/>
          <p:nvPr/>
        </p:nvSpPr>
        <p:spPr>
          <a:xfrm>
            <a:off x="685800" y="2247900"/>
            <a:ext cx="152400" cy="152400"/>
          </a:xfrm>
          <a:prstGeom prst="ellipse">
            <a:avLst/>
          </a:prstGeom>
          <a:solidFill>
            <a:srgbClr val="3D8D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10"/>
          <p:cNvSpPr/>
          <p:nvPr/>
        </p:nvSpPr>
        <p:spPr>
          <a:xfrm>
            <a:off x="685800" y="2247900"/>
            <a:ext cx="152400" cy="152400"/>
          </a:xfrm>
          <a:prstGeom prst="ellipse">
            <a:avLst/>
          </a:prstGeom>
          <a:solidFill>
            <a:srgbClr val="FF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2" name="Google Shape;202;p10"/>
          <p:cNvSpPr/>
          <p:nvPr/>
        </p:nvSpPr>
        <p:spPr>
          <a:xfrm>
            <a:off x="685800" y="1857375"/>
            <a:ext cx="2000100" cy="228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200" b="1" dirty="0">
                <a:solidFill>
                  <a:srgbClr val="FF0000"/>
                </a:solidFill>
                <a:latin typeface="Helvetica Neue"/>
                <a:ea typeface="Helvetica Neue"/>
                <a:cs typeface="Helvetica Neue"/>
                <a:sym typeface="Helvetica Neue"/>
              </a:rPr>
              <a:t>1 · CODE INJECTION</a:t>
            </a:r>
            <a:endParaRPr dirty="0">
              <a:solidFill>
                <a:srgbClr val="FF0000"/>
              </a:solidFill>
            </a:endParaRPr>
          </a:p>
        </p:txBody>
      </p:sp>
      <p:sp>
        <p:nvSpPr>
          <p:cNvPr id="216" name="Google Shape;216;p10"/>
          <p:cNvSpPr/>
          <p:nvPr/>
        </p:nvSpPr>
        <p:spPr>
          <a:xfrm>
            <a:off x="685800" y="5791200"/>
            <a:ext cx="10947400" cy="457200"/>
          </a:xfrm>
          <a:prstGeom prst="rect">
            <a:avLst/>
          </a:prstGeom>
          <a:noFill/>
          <a:ln>
            <a:noFill/>
          </a:ln>
        </p:spPr>
        <p:txBody>
          <a:bodyPr spcFirstLastPara="1" wrap="square" lIns="0" tIns="0" rIns="0" bIns="0" anchor="t" anchorCtr="0">
            <a:noAutofit/>
          </a:bodyPr>
          <a:lstStyle/>
          <a:p>
            <a:pPr lvl="0" algn="ctr"/>
            <a:r>
              <a:rPr lang="en-US" dirty="0">
                <a:solidFill>
                  <a:schemeClr val="tx1"/>
                </a:solidFill>
              </a:rPr>
              <a:t>Source-code delivery" channel and the "data" channel must be protected— locally packaged/pinned— such as one built with Tauri or SRI, packaged extensions — can remove the code-delivery channel exploits.</a:t>
            </a:r>
            <a:endParaRPr dirty="0">
              <a:solidFill>
                <a:schemeClr val="tx1"/>
              </a:solidFill>
            </a:endParaRPr>
          </a:p>
        </p:txBody>
      </p:sp>
      <p:pic>
        <p:nvPicPr>
          <p:cNvPr id="2" name="2026-07-21 19-26-14">
            <a:hlinkClick r:id="" action="ppaction://media"/>
            <a:extLst>
              <a:ext uri="{FF2B5EF4-FFF2-40B4-BE49-F238E27FC236}">
                <a16:creationId xmlns:a16="http://schemas.microsoft.com/office/drawing/2014/main" id="{336780FA-9639-303A-2A80-D3F3E7878D56}"/>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3657600" y="1143000"/>
            <a:ext cx="8128000" cy="4572000"/>
          </a:xfrm>
          <a:prstGeom prst="rect">
            <a:avLst/>
          </a:prstGeom>
        </p:spPr>
      </p:pic>
      <p:grpSp>
        <p:nvGrpSpPr>
          <p:cNvPr id="3" name="Group 2">
            <a:extLst>
              <a:ext uri="{FF2B5EF4-FFF2-40B4-BE49-F238E27FC236}">
                <a16:creationId xmlns:a16="http://schemas.microsoft.com/office/drawing/2014/main" id="{312644D0-3643-FDCB-6948-170ABEE84A63}"/>
              </a:ext>
            </a:extLst>
          </p:cNvPr>
          <p:cNvGrpSpPr/>
          <p:nvPr/>
        </p:nvGrpSpPr>
        <p:grpSpPr>
          <a:xfrm>
            <a:off x="457200" y="2696400"/>
            <a:ext cx="3048000" cy="2000100"/>
            <a:chOff x="3981450" y="2705100"/>
            <a:chExt cx="3048000" cy="2000100"/>
          </a:xfrm>
        </p:grpSpPr>
        <p:sp>
          <p:nvSpPr>
            <p:cNvPr id="4" name="Google Shape;180;p9">
              <a:extLst>
                <a:ext uri="{FF2B5EF4-FFF2-40B4-BE49-F238E27FC236}">
                  <a16:creationId xmlns:a16="http://schemas.microsoft.com/office/drawing/2014/main" id="{BFB5C19A-B62B-F0F1-D412-26499D23CC52}"/>
                </a:ext>
              </a:extLst>
            </p:cNvPr>
            <p:cNvSpPr/>
            <p:nvPr/>
          </p:nvSpPr>
          <p:spPr>
            <a:xfrm>
              <a:off x="3981450" y="2705100"/>
              <a:ext cx="3048000" cy="2000100"/>
            </a:xfrm>
            <a:prstGeom prst="rect">
              <a:avLst/>
            </a:prstGeom>
            <a:solidFill>
              <a:srgbClr val="FCE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183;p9">
              <a:extLst>
                <a:ext uri="{FF2B5EF4-FFF2-40B4-BE49-F238E27FC236}">
                  <a16:creationId xmlns:a16="http://schemas.microsoft.com/office/drawing/2014/main" id="{EB5AEAC8-9ABF-CD2F-2E44-B8CC6D831472}"/>
                </a:ext>
              </a:extLst>
            </p:cNvPr>
            <p:cNvSpPr/>
            <p:nvPr/>
          </p:nvSpPr>
          <p:spPr>
            <a:xfrm>
              <a:off x="4146550" y="2962275"/>
              <a:ext cx="2819400" cy="3135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950" b="1" dirty="0">
                  <a:solidFill>
                    <a:srgbClr val="111827"/>
                  </a:solidFill>
                  <a:latin typeface="Helvetica Neue"/>
                  <a:sym typeface="Helvetica Neue"/>
                </a:rPr>
                <a:t>Code Delivery Channel</a:t>
              </a:r>
              <a:endParaRPr dirty="0"/>
            </a:p>
          </p:txBody>
        </p:sp>
        <p:sp>
          <p:nvSpPr>
            <p:cNvPr id="6" name="Google Shape;184;p9">
              <a:extLst>
                <a:ext uri="{FF2B5EF4-FFF2-40B4-BE49-F238E27FC236}">
                  <a16:creationId xmlns:a16="http://schemas.microsoft.com/office/drawing/2014/main" id="{74B0A7CE-B256-E82B-0373-3BF563E792E9}"/>
                </a:ext>
              </a:extLst>
            </p:cNvPr>
            <p:cNvSpPr/>
            <p:nvPr/>
          </p:nvSpPr>
          <p:spPr>
            <a:xfrm>
              <a:off x="4210050" y="3429000"/>
              <a:ext cx="2476500" cy="8955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1500" dirty="0">
                  <a:solidFill>
                    <a:srgbClr val="52606D"/>
                  </a:solidFill>
                  <a:latin typeface="Helvetica Neue"/>
                  <a:sym typeface="Helvetica Neue"/>
                </a:rPr>
                <a:t>Code injected by proxy and </a:t>
              </a:r>
              <a:r>
                <a:rPr lang="en-US" sz="1500" dirty="0" err="1">
                  <a:solidFill>
                    <a:srgbClr val="52606D"/>
                  </a:solidFill>
                  <a:latin typeface="Helvetica Neue"/>
                  <a:sym typeface="Helvetica Neue"/>
                </a:rPr>
                <a:t>HPKE</a:t>
              </a:r>
              <a:r>
                <a:rPr lang="en-US" sz="1500" dirty="0">
                  <a:solidFill>
                    <a:srgbClr val="52606D"/>
                  </a:solidFill>
                  <a:latin typeface="Helvetica Neue"/>
                  <a:sym typeface="Helvetica Neue"/>
                </a:rPr>
                <a:t> compromised</a:t>
              </a:r>
              <a:endParaRPr dirty="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73267"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21"/>
        <p:cNvGrpSpPr/>
        <p:nvPr/>
      </p:nvGrpSpPr>
      <p:grpSpPr>
        <a:xfrm>
          <a:off x="0" y="0"/>
          <a:ext cx="0" cy="0"/>
          <a:chOff x="0" y="0"/>
          <a:chExt cx="0" cy="0"/>
        </a:xfrm>
      </p:grpSpPr>
      <p:sp>
        <p:nvSpPr>
          <p:cNvPr id="222" name="Google Shape;222;p11"/>
          <p:cNvSpPr/>
          <p:nvPr/>
        </p:nvSpPr>
        <p:spPr>
          <a:xfrm>
            <a:off x="0" y="0"/>
            <a:ext cx="12192000" cy="95250"/>
          </a:xfrm>
          <a:prstGeom prst="rect">
            <a:avLst/>
          </a:prstGeom>
          <a:solidFill>
            <a:srgbClr val="3D8D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23" name="Google Shape;223;p11"/>
          <p:cNvCxnSpPr/>
          <p:nvPr/>
        </p:nvCxnSpPr>
        <p:spPr>
          <a:xfrm>
            <a:off x="400050" y="6334125"/>
            <a:ext cx="11391900" cy="953"/>
          </a:xfrm>
          <a:prstGeom prst="straightConnector1">
            <a:avLst/>
          </a:prstGeom>
          <a:noFill/>
          <a:ln w="9525" cap="flat" cmpd="sng">
            <a:solidFill>
              <a:srgbClr val="B8BCC4"/>
            </a:solidFill>
            <a:prstDash val="solid"/>
            <a:round/>
            <a:headEnd type="none" w="sm" len="sm"/>
            <a:tailEnd type="none" w="sm" len="sm"/>
          </a:ln>
        </p:spPr>
      </p:cxnSp>
      <p:sp>
        <p:nvSpPr>
          <p:cNvPr id="224" name="Google Shape;224;p11"/>
          <p:cNvSpPr/>
          <p:nvPr/>
        </p:nvSpPr>
        <p:spPr>
          <a:xfrm>
            <a:off x="11239500" y="6419850"/>
            <a:ext cx="552600" cy="209700"/>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r>
              <a:rPr lang="en-US" sz="900">
                <a:solidFill>
                  <a:srgbClr val="52606D"/>
                </a:solidFill>
                <a:latin typeface="Helvetica Neue"/>
                <a:ea typeface="Helvetica Neue"/>
                <a:cs typeface="Helvetica Neue"/>
                <a:sym typeface="Helvetica Neue"/>
              </a:rPr>
              <a:t>9</a:t>
            </a:r>
            <a:endParaRPr/>
          </a:p>
        </p:txBody>
      </p:sp>
      <p:sp>
        <p:nvSpPr>
          <p:cNvPr id="225" name="Google Shape;225;p11"/>
          <p:cNvSpPr/>
          <p:nvPr/>
        </p:nvSpPr>
        <p:spPr>
          <a:xfrm>
            <a:off x="457200" y="400050"/>
            <a:ext cx="11049000" cy="876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150" b="1">
                <a:solidFill>
                  <a:srgbClr val="111827"/>
                </a:solidFill>
                <a:latin typeface="Helvetica Neue"/>
                <a:ea typeface="Helvetica Neue"/>
                <a:cs typeface="Helvetica Neue"/>
                <a:sym typeface="Helvetica Neue"/>
              </a:rPr>
              <a:t>Redteam testing supported the claim - and improved the implementation</a:t>
            </a:r>
            <a:endParaRPr/>
          </a:p>
        </p:txBody>
      </p:sp>
      <p:sp>
        <p:nvSpPr>
          <p:cNvPr id="226" name="Google Shape;226;p11"/>
          <p:cNvSpPr/>
          <p:nvPr/>
        </p:nvSpPr>
        <p:spPr>
          <a:xfrm>
            <a:off x="457200" y="1314450"/>
            <a:ext cx="10953750" cy="3429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500" b="0">
                <a:solidFill>
                  <a:srgbClr val="52606D"/>
                </a:solidFill>
                <a:latin typeface="Helvetica Neue"/>
                <a:ea typeface="Helvetica Neue"/>
                <a:cs typeface="Helvetica Neue"/>
                <a:sym typeface="Helvetica Neue"/>
              </a:rPr>
              <a:t>The most valuable result was not merely passing attacks; it was finding where the original assumptions were too loose.</a:t>
            </a:r>
            <a:endParaRPr/>
          </a:p>
        </p:txBody>
      </p:sp>
      <p:sp>
        <p:nvSpPr>
          <p:cNvPr id="227" name="Google Shape;227;p11"/>
          <p:cNvSpPr/>
          <p:nvPr/>
        </p:nvSpPr>
        <p:spPr>
          <a:xfrm>
            <a:off x="457200" y="1943100"/>
            <a:ext cx="11277600" cy="476250"/>
          </a:xfrm>
          <a:prstGeom prst="rect">
            <a:avLst/>
          </a:prstGeom>
          <a:solidFill>
            <a:srgbClr val="1118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8" name="Google Shape;228;p11"/>
          <p:cNvSpPr/>
          <p:nvPr/>
        </p:nvSpPr>
        <p:spPr>
          <a:xfrm>
            <a:off x="685800" y="2095500"/>
            <a:ext cx="2238375" cy="1905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88" b="1">
                <a:solidFill>
                  <a:srgbClr val="FFFFFF"/>
                </a:solidFill>
                <a:latin typeface="Helvetica Neue"/>
                <a:ea typeface="Helvetica Neue"/>
                <a:cs typeface="Helvetica Neue"/>
                <a:sym typeface="Helvetica Neue"/>
              </a:rPr>
              <a:t>TEST AREA</a:t>
            </a:r>
            <a:endParaRPr/>
          </a:p>
        </p:txBody>
      </p:sp>
      <p:sp>
        <p:nvSpPr>
          <p:cNvPr id="229" name="Google Shape;229;p11"/>
          <p:cNvSpPr/>
          <p:nvPr/>
        </p:nvSpPr>
        <p:spPr>
          <a:xfrm>
            <a:off x="3162300" y="2095500"/>
            <a:ext cx="4286250" cy="1905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88" b="1">
                <a:solidFill>
                  <a:srgbClr val="FFFFFF"/>
                </a:solidFill>
                <a:latin typeface="Helvetica Neue"/>
                <a:ea typeface="Helvetica Neue"/>
                <a:cs typeface="Helvetica Neue"/>
                <a:sym typeface="Helvetica Neue"/>
              </a:rPr>
              <a:t>OBSERVATION</a:t>
            </a:r>
            <a:endParaRPr/>
          </a:p>
        </p:txBody>
      </p:sp>
      <p:sp>
        <p:nvSpPr>
          <p:cNvPr id="230" name="Google Shape;230;p11"/>
          <p:cNvSpPr/>
          <p:nvPr/>
        </p:nvSpPr>
        <p:spPr>
          <a:xfrm>
            <a:off x="7848600" y="2095500"/>
            <a:ext cx="3524250" cy="1905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088" b="1">
                <a:solidFill>
                  <a:srgbClr val="FFFFFF"/>
                </a:solidFill>
                <a:latin typeface="Helvetica Neue"/>
                <a:ea typeface="Helvetica Neue"/>
                <a:cs typeface="Helvetica Neue"/>
                <a:sym typeface="Helvetica Neue"/>
              </a:rPr>
              <a:t>SECURITY MEANING</a:t>
            </a:r>
            <a:endParaRPr/>
          </a:p>
        </p:txBody>
      </p:sp>
      <p:sp>
        <p:nvSpPr>
          <p:cNvPr id="231" name="Google Shape;231;p11"/>
          <p:cNvSpPr/>
          <p:nvPr/>
        </p:nvSpPr>
        <p:spPr>
          <a:xfrm>
            <a:off x="457200" y="2419350"/>
            <a:ext cx="11277600" cy="819150"/>
          </a:xfrm>
          <a:prstGeom prst="rect">
            <a:avLst/>
          </a:prstGeom>
          <a:solidFill>
            <a:srgbClr val="EAF5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2" name="Google Shape;232;p11"/>
          <p:cNvSpPr/>
          <p:nvPr/>
        </p:nvSpPr>
        <p:spPr>
          <a:xfrm>
            <a:off x="685800" y="2638425"/>
            <a:ext cx="2238375" cy="40005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350" b="1">
                <a:solidFill>
                  <a:srgbClr val="111827"/>
                </a:solidFill>
                <a:latin typeface="Helvetica Neue"/>
                <a:ea typeface="Helvetica Neue"/>
                <a:cs typeface="Helvetica Neue"/>
                <a:sym typeface="Helvetica Neue"/>
              </a:rPr>
              <a:t>Observer comparison</a:t>
            </a:r>
            <a:endParaRPr/>
          </a:p>
        </p:txBody>
      </p:sp>
      <p:sp>
        <p:nvSpPr>
          <p:cNvPr id="233" name="Google Shape;233;p11"/>
          <p:cNvSpPr/>
          <p:nvPr/>
        </p:nvSpPr>
        <p:spPr>
          <a:xfrm>
            <a:off x="3162300" y="2638425"/>
            <a:ext cx="4286250" cy="40005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313" b="0">
                <a:solidFill>
                  <a:srgbClr val="52606D"/>
                </a:solidFill>
                <a:latin typeface="Helvetica Neue"/>
                <a:ea typeface="Helvetica Neue"/>
                <a:cs typeface="Helvetica Neue"/>
                <a:sym typeface="Helvetica Neue"/>
              </a:rPr>
              <a:t>TLS-only showed plaintext; HPKE showed only seq + ciphertext.</a:t>
            </a:r>
            <a:endParaRPr/>
          </a:p>
        </p:txBody>
      </p:sp>
      <p:sp>
        <p:nvSpPr>
          <p:cNvPr id="234" name="Google Shape;234;p11"/>
          <p:cNvSpPr/>
          <p:nvPr/>
        </p:nvSpPr>
        <p:spPr>
          <a:xfrm>
            <a:off x="7848600" y="2638425"/>
            <a:ext cx="3524250" cy="40005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313" b="1">
                <a:solidFill>
                  <a:srgbClr val="111827"/>
                </a:solidFill>
                <a:latin typeface="Helvetica Neue"/>
                <a:ea typeface="Helvetica Neue"/>
                <a:cs typeface="Helvetica Neue"/>
                <a:sym typeface="Helvetica Neue"/>
              </a:rPr>
              <a:t>Plaintext boundary moved past the TLS proxy.</a:t>
            </a:r>
            <a:endParaRPr/>
          </a:p>
        </p:txBody>
      </p:sp>
      <p:sp>
        <p:nvSpPr>
          <p:cNvPr id="235" name="Google Shape;235;p11"/>
          <p:cNvSpPr/>
          <p:nvPr/>
        </p:nvSpPr>
        <p:spPr>
          <a:xfrm>
            <a:off x="457200" y="3238500"/>
            <a:ext cx="11277600" cy="81915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11"/>
          <p:cNvSpPr/>
          <p:nvPr/>
        </p:nvSpPr>
        <p:spPr>
          <a:xfrm>
            <a:off x="685800" y="3457575"/>
            <a:ext cx="2238375" cy="40005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350" b="1">
                <a:solidFill>
                  <a:srgbClr val="111827"/>
                </a:solidFill>
                <a:latin typeface="Helvetica Neue"/>
                <a:ea typeface="Helvetica Neue"/>
                <a:cs typeface="Helvetica Neue"/>
                <a:sym typeface="Helvetica Neue"/>
              </a:rPr>
              <a:t>Tamper + replay</a:t>
            </a:r>
            <a:endParaRPr/>
          </a:p>
        </p:txBody>
      </p:sp>
      <p:sp>
        <p:nvSpPr>
          <p:cNvPr id="237" name="Google Shape;237;p11"/>
          <p:cNvSpPr/>
          <p:nvPr/>
        </p:nvSpPr>
        <p:spPr>
          <a:xfrm>
            <a:off x="3162300" y="3457575"/>
            <a:ext cx="4286250" cy="40005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313" b="0">
                <a:solidFill>
                  <a:srgbClr val="52606D"/>
                </a:solidFill>
                <a:latin typeface="Helvetica Neue"/>
                <a:ea typeface="Helvetica Neue"/>
                <a:cs typeface="Helvetica Neue"/>
                <a:sym typeface="Helvetica Neue"/>
              </a:rPr>
              <a:t>Tampering, replay, ordering, and reflection were rejected.</a:t>
            </a:r>
            <a:endParaRPr/>
          </a:p>
        </p:txBody>
      </p:sp>
      <p:sp>
        <p:nvSpPr>
          <p:cNvPr id="238" name="Google Shape;238;p11"/>
          <p:cNvSpPr/>
          <p:nvPr/>
        </p:nvSpPr>
        <p:spPr>
          <a:xfrm>
            <a:off x="7848600" y="3457575"/>
            <a:ext cx="3524250" cy="40005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313" b="1">
                <a:solidFill>
                  <a:srgbClr val="111827"/>
                </a:solidFill>
                <a:latin typeface="Helvetica Neue"/>
                <a:ea typeface="Helvetica Neue"/>
                <a:cs typeface="Helvetica Neue"/>
                <a:sym typeface="Helvetica Neue"/>
              </a:rPr>
              <a:t>No corrupted plaintext or duplicate echo; fail closed.</a:t>
            </a:r>
            <a:endParaRPr/>
          </a:p>
        </p:txBody>
      </p:sp>
      <p:sp>
        <p:nvSpPr>
          <p:cNvPr id="239" name="Google Shape;239;p11"/>
          <p:cNvSpPr/>
          <p:nvPr/>
        </p:nvSpPr>
        <p:spPr>
          <a:xfrm>
            <a:off x="457200" y="4057650"/>
            <a:ext cx="11277600" cy="895350"/>
          </a:xfrm>
          <a:prstGeom prst="rect">
            <a:avLst/>
          </a:prstGeom>
          <a:solidFill>
            <a:srgbClr val="FCE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11"/>
          <p:cNvSpPr/>
          <p:nvPr/>
        </p:nvSpPr>
        <p:spPr>
          <a:xfrm>
            <a:off x="685800" y="4276725"/>
            <a:ext cx="2238375"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350" b="1">
                <a:solidFill>
                  <a:srgbClr val="111827"/>
                </a:solidFill>
                <a:latin typeface="Helvetica Neue"/>
                <a:ea typeface="Helvetica Neue"/>
                <a:cs typeface="Helvetica Neue"/>
                <a:sym typeface="Helvetica Neue"/>
              </a:rPr>
              <a:t>Identity + validation</a:t>
            </a:r>
            <a:endParaRPr/>
          </a:p>
        </p:txBody>
      </p:sp>
      <p:sp>
        <p:nvSpPr>
          <p:cNvPr id="241" name="Google Shape;241;p11"/>
          <p:cNvSpPr/>
          <p:nvPr/>
        </p:nvSpPr>
        <p:spPr>
          <a:xfrm>
            <a:off x="3162300" y="4276725"/>
            <a:ext cx="4286250"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313" b="0">
                <a:solidFill>
                  <a:srgbClr val="52606D"/>
                </a:solidFill>
                <a:latin typeface="Helvetica Neue"/>
                <a:ea typeface="Helvetica Neue"/>
                <a:cs typeface="Helvetica Neue"/>
                <a:sym typeface="Helvetica Neue"/>
              </a:rPr>
              <a:t>Non-canonical pin and inconsistent malformed-input errors were found.</a:t>
            </a:r>
            <a:endParaRPr/>
          </a:p>
        </p:txBody>
      </p:sp>
      <p:sp>
        <p:nvSpPr>
          <p:cNvPr id="242" name="Google Shape;242;p11"/>
          <p:cNvSpPr/>
          <p:nvPr/>
        </p:nvSpPr>
        <p:spPr>
          <a:xfrm>
            <a:off x="7848600" y="4276725"/>
            <a:ext cx="3524250" cy="495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313" b="1">
                <a:solidFill>
                  <a:srgbClr val="111827"/>
                </a:solidFill>
                <a:latin typeface="Helvetica Neue"/>
                <a:ea typeface="Helvetica Neue"/>
                <a:cs typeface="Helvetica Neue"/>
                <a:sym typeface="Helvetica Neue"/>
              </a:rPr>
              <a:t>Canonical encoding, uniform rejection, and sanitized errors were added.</a:t>
            </a:r>
            <a:endParaRPr/>
          </a:p>
        </p:txBody>
      </p:sp>
      <p:sp>
        <p:nvSpPr>
          <p:cNvPr id="243" name="Google Shape;243;p11"/>
          <p:cNvSpPr/>
          <p:nvPr/>
        </p:nvSpPr>
        <p:spPr>
          <a:xfrm>
            <a:off x="457200" y="4953000"/>
            <a:ext cx="11277600" cy="933450"/>
          </a:xfrm>
          <a:prstGeom prst="rect">
            <a:avLst/>
          </a:prstGeom>
          <a:solidFill>
            <a:srgbClr val="F2F4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4" name="Google Shape;244;p11"/>
          <p:cNvSpPr/>
          <p:nvPr/>
        </p:nvSpPr>
        <p:spPr>
          <a:xfrm>
            <a:off x="685800" y="5172075"/>
            <a:ext cx="2238375" cy="4572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350" b="1">
                <a:solidFill>
                  <a:srgbClr val="111827"/>
                </a:solidFill>
                <a:latin typeface="Helvetica Neue"/>
                <a:ea typeface="Helvetica Neue"/>
                <a:cs typeface="Helvetica Neue"/>
                <a:sym typeface="Helvetica Neue"/>
              </a:rPr>
              <a:t>Leakage + metadata</a:t>
            </a:r>
            <a:endParaRPr/>
          </a:p>
        </p:txBody>
      </p:sp>
      <p:sp>
        <p:nvSpPr>
          <p:cNvPr id="245" name="Google Shape;245;p11"/>
          <p:cNvSpPr/>
          <p:nvPr/>
        </p:nvSpPr>
        <p:spPr>
          <a:xfrm>
            <a:off x="3162300" y="5172075"/>
            <a:ext cx="4286250" cy="523875"/>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313" b="0">
                <a:solidFill>
                  <a:srgbClr val="52606D"/>
                </a:solidFill>
                <a:latin typeface="Helvetica Neue"/>
                <a:ea typeface="Helvetica Neue"/>
                <a:cs typeface="Helvetica Neue"/>
                <a:sym typeface="Helvetica Neue"/>
              </a:rPr>
              <a:t>Unique tokens were absent from searched logs; timing, size, and count remained visible.</a:t>
            </a:r>
            <a:endParaRPr/>
          </a:p>
        </p:txBody>
      </p:sp>
      <p:sp>
        <p:nvSpPr>
          <p:cNvPr id="246" name="Google Shape;246;p11"/>
          <p:cNvSpPr/>
          <p:nvPr/>
        </p:nvSpPr>
        <p:spPr>
          <a:xfrm>
            <a:off x="7848600" y="5172075"/>
            <a:ext cx="3524250" cy="4953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313" b="1">
                <a:solidFill>
                  <a:srgbClr val="111827"/>
                </a:solidFill>
                <a:latin typeface="Helvetica Neue"/>
                <a:ea typeface="Helvetica Neue"/>
                <a:cs typeface="Helvetica Neue"/>
                <a:sym typeface="Helvetica Neue"/>
              </a:rPr>
              <a:t>Content confidentiality improved; traffic analysis remains possible.</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51"/>
        <p:cNvGrpSpPr/>
        <p:nvPr/>
      </p:nvGrpSpPr>
      <p:grpSpPr>
        <a:xfrm>
          <a:off x="0" y="0"/>
          <a:ext cx="0" cy="0"/>
          <a:chOff x="0" y="0"/>
          <a:chExt cx="0" cy="0"/>
        </a:xfrm>
      </p:grpSpPr>
      <p:sp>
        <p:nvSpPr>
          <p:cNvPr id="252" name="Google Shape;252;p12"/>
          <p:cNvSpPr/>
          <p:nvPr/>
        </p:nvSpPr>
        <p:spPr>
          <a:xfrm>
            <a:off x="0" y="0"/>
            <a:ext cx="12192000" cy="95400"/>
          </a:xfrm>
          <a:prstGeom prst="rect">
            <a:avLst/>
          </a:prstGeom>
          <a:solidFill>
            <a:srgbClr val="3D8D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53" name="Google Shape;253;p12"/>
          <p:cNvCxnSpPr/>
          <p:nvPr/>
        </p:nvCxnSpPr>
        <p:spPr>
          <a:xfrm>
            <a:off x="400050" y="6334125"/>
            <a:ext cx="11391900" cy="900"/>
          </a:xfrm>
          <a:prstGeom prst="straightConnector1">
            <a:avLst/>
          </a:prstGeom>
          <a:noFill/>
          <a:ln w="9525" cap="flat" cmpd="sng">
            <a:solidFill>
              <a:srgbClr val="B8BCC4"/>
            </a:solidFill>
            <a:prstDash val="solid"/>
            <a:round/>
            <a:headEnd type="none" w="sm" len="sm"/>
            <a:tailEnd type="none" w="sm" len="sm"/>
          </a:ln>
        </p:spPr>
      </p:cxnSp>
      <p:sp>
        <p:nvSpPr>
          <p:cNvPr id="254" name="Google Shape;254;p12"/>
          <p:cNvSpPr/>
          <p:nvPr/>
        </p:nvSpPr>
        <p:spPr>
          <a:xfrm>
            <a:off x="11239500" y="6419850"/>
            <a:ext cx="552600" cy="209700"/>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r>
              <a:rPr lang="en-US" sz="900">
                <a:solidFill>
                  <a:srgbClr val="52606D"/>
                </a:solidFill>
                <a:latin typeface="Helvetica Neue"/>
                <a:ea typeface="Helvetica Neue"/>
                <a:cs typeface="Helvetica Neue"/>
                <a:sym typeface="Helvetica Neue"/>
              </a:rPr>
              <a:t>10</a:t>
            </a:r>
            <a:endParaRPr/>
          </a:p>
        </p:txBody>
      </p:sp>
      <p:sp>
        <p:nvSpPr>
          <p:cNvPr id="255" name="Google Shape;255;p12"/>
          <p:cNvSpPr/>
          <p:nvPr/>
        </p:nvSpPr>
        <p:spPr>
          <a:xfrm>
            <a:off x="457200" y="400050"/>
            <a:ext cx="11049000" cy="552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3150" b="1" dirty="0" err="1">
                <a:solidFill>
                  <a:srgbClr val="111827"/>
                </a:solidFill>
                <a:latin typeface="Helvetica Neue"/>
                <a:ea typeface="Helvetica Neue"/>
                <a:cs typeface="Helvetica Neue"/>
                <a:sym typeface="Helvetica Neue"/>
              </a:rPr>
              <a:t>EchoVault</a:t>
            </a:r>
            <a:r>
              <a:rPr lang="en-US" sz="3150" b="1" dirty="0">
                <a:solidFill>
                  <a:srgbClr val="111827"/>
                </a:solidFill>
                <a:latin typeface="Helvetica Neue"/>
                <a:ea typeface="Helvetica Neue"/>
                <a:cs typeface="Helvetica Neue"/>
                <a:sym typeface="Helvetica Neue"/>
              </a:rPr>
              <a:t> makes a hidden trust boundary visible</a:t>
            </a:r>
            <a:endParaRPr dirty="0"/>
          </a:p>
        </p:txBody>
      </p:sp>
      <p:sp>
        <p:nvSpPr>
          <p:cNvPr id="256" name="Google Shape;256;p12"/>
          <p:cNvSpPr/>
          <p:nvPr/>
        </p:nvSpPr>
        <p:spPr>
          <a:xfrm>
            <a:off x="457200" y="1104900"/>
            <a:ext cx="11049000" cy="304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500" b="0">
                <a:solidFill>
                  <a:srgbClr val="52606D"/>
                </a:solidFill>
                <a:latin typeface="Helvetica Neue"/>
                <a:ea typeface="Helvetica Neue"/>
                <a:cs typeface="Helvetica Neue"/>
                <a:sym typeface="Helvetica Neue"/>
              </a:rPr>
              <a:t>One toggle showed exactly where TLS stopped protecting prompt content</a:t>
            </a:r>
            <a:r>
              <a:rPr lang="en-US" sz="1500">
                <a:solidFill>
                  <a:srgbClr val="52606D"/>
                </a:solidFill>
                <a:latin typeface="Helvetica Neue"/>
                <a:ea typeface="Helvetica Neue"/>
                <a:cs typeface="Helvetica Neue"/>
                <a:sym typeface="Helvetica Neue"/>
              </a:rPr>
              <a:t> - </a:t>
            </a:r>
            <a:r>
              <a:rPr lang="en-US" sz="1500" b="0">
                <a:solidFill>
                  <a:srgbClr val="52606D"/>
                </a:solidFill>
                <a:latin typeface="Helvetica Neue"/>
                <a:ea typeface="Helvetica Neue"/>
                <a:cs typeface="Helvetica Neue"/>
                <a:sym typeface="Helvetica Neue"/>
              </a:rPr>
              <a:t>and where HPKE changed the result.</a:t>
            </a:r>
            <a:endParaRPr/>
          </a:p>
        </p:txBody>
      </p:sp>
      <p:sp>
        <p:nvSpPr>
          <p:cNvPr id="257" name="Google Shape;257;p12"/>
          <p:cNvSpPr/>
          <p:nvPr/>
        </p:nvSpPr>
        <p:spPr>
          <a:xfrm>
            <a:off x="457200" y="1752600"/>
            <a:ext cx="3372000" cy="1952700"/>
          </a:xfrm>
          <a:prstGeom prst="rect">
            <a:avLst/>
          </a:prstGeom>
          <a:solidFill>
            <a:srgbClr val="EAF5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8" name="Google Shape;258;p12"/>
          <p:cNvSpPr/>
          <p:nvPr/>
        </p:nvSpPr>
        <p:spPr>
          <a:xfrm>
            <a:off x="457200" y="1752600"/>
            <a:ext cx="3372000" cy="76200"/>
          </a:xfrm>
          <a:prstGeom prst="rect">
            <a:avLst/>
          </a:prstGeom>
          <a:solidFill>
            <a:srgbClr val="3D8D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9" name="Google Shape;259;p12"/>
          <p:cNvSpPr/>
          <p:nvPr/>
        </p:nvSpPr>
        <p:spPr>
          <a:xfrm>
            <a:off x="685800" y="2009775"/>
            <a:ext cx="2476500" cy="2097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25" b="1">
                <a:solidFill>
                  <a:srgbClr val="3D8DFF"/>
                </a:solidFill>
                <a:latin typeface="Helvetica Neue"/>
                <a:ea typeface="Helvetica Neue"/>
                <a:cs typeface="Helvetica Neue"/>
                <a:sym typeface="Helvetica Neue"/>
              </a:rPr>
              <a:t>CONTROLLED COMPARISON</a:t>
            </a:r>
            <a:endParaRPr/>
          </a:p>
        </p:txBody>
      </p:sp>
      <p:sp>
        <p:nvSpPr>
          <p:cNvPr id="260" name="Google Shape;260;p12"/>
          <p:cNvSpPr/>
          <p:nvPr/>
        </p:nvSpPr>
        <p:spPr>
          <a:xfrm>
            <a:off x="685800" y="2352675"/>
            <a:ext cx="2724300" cy="552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800" b="1">
                <a:solidFill>
                  <a:srgbClr val="111827"/>
                </a:solidFill>
                <a:latin typeface="Helvetica Neue"/>
                <a:ea typeface="Helvetica Neue"/>
                <a:cs typeface="Helvetica Neue"/>
                <a:sym typeface="Helvetica Neue"/>
              </a:rPr>
              <a:t>Same path. Different exposure.</a:t>
            </a:r>
            <a:endParaRPr/>
          </a:p>
        </p:txBody>
      </p:sp>
      <p:sp>
        <p:nvSpPr>
          <p:cNvPr id="261" name="Google Shape;261;p12"/>
          <p:cNvSpPr/>
          <p:nvPr/>
        </p:nvSpPr>
        <p:spPr>
          <a:xfrm>
            <a:off x="685800" y="3009900"/>
            <a:ext cx="2724300" cy="5715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313" b="0">
                <a:solidFill>
                  <a:srgbClr val="52606D"/>
                </a:solidFill>
                <a:latin typeface="Helvetica Neue"/>
                <a:ea typeface="Helvetica Neue"/>
                <a:cs typeface="Helvetica Neue"/>
                <a:sym typeface="Helvetica Neue"/>
              </a:rPr>
              <a:t>The browser, proxy, server, and WebSocket route stayed constant; only HPKE changed.</a:t>
            </a:r>
            <a:endParaRPr/>
          </a:p>
        </p:txBody>
      </p:sp>
      <p:sp>
        <p:nvSpPr>
          <p:cNvPr id="262" name="Google Shape;262;p12"/>
          <p:cNvSpPr/>
          <p:nvPr/>
        </p:nvSpPr>
        <p:spPr>
          <a:xfrm>
            <a:off x="4410075" y="1752600"/>
            <a:ext cx="3372000" cy="1952700"/>
          </a:xfrm>
          <a:prstGeom prst="rect">
            <a:avLst/>
          </a:prstGeom>
          <a:solidFill>
            <a:srgbClr val="FCEB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3" name="Google Shape;263;p12"/>
          <p:cNvSpPr/>
          <p:nvPr/>
        </p:nvSpPr>
        <p:spPr>
          <a:xfrm>
            <a:off x="4410075" y="1752600"/>
            <a:ext cx="3372000" cy="76200"/>
          </a:xfrm>
          <a:prstGeom prst="rect">
            <a:avLst/>
          </a:prstGeom>
          <a:solidFill>
            <a:srgbClr val="E8792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4" name="Google Shape;264;p12"/>
          <p:cNvSpPr/>
          <p:nvPr/>
        </p:nvSpPr>
        <p:spPr>
          <a:xfrm>
            <a:off x="4638675" y="2009775"/>
            <a:ext cx="2476500" cy="2097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25" b="1">
                <a:solidFill>
                  <a:srgbClr val="E8792E"/>
                </a:solidFill>
                <a:latin typeface="Helvetica Neue"/>
                <a:ea typeface="Helvetica Neue"/>
                <a:cs typeface="Helvetica Neue"/>
                <a:sym typeface="Helvetica Neue"/>
              </a:rPr>
              <a:t>OBSERVABLE RESULT</a:t>
            </a:r>
            <a:endParaRPr/>
          </a:p>
        </p:txBody>
      </p:sp>
      <p:sp>
        <p:nvSpPr>
          <p:cNvPr id="265" name="Google Shape;265;p12"/>
          <p:cNvSpPr/>
          <p:nvPr/>
        </p:nvSpPr>
        <p:spPr>
          <a:xfrm>
            <a:off x="4638675" y="2352675"/>
            <a:ext cx="2724300" cy="552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800" b="1">
                <a:solidFill>
                  <a:srgbClr val="111827"/>
                </a:solidFill>
                <a:latin typeface="Helvetica Neue"/>
                <a:ea typeface="Helvetica Neue"/>
                <a:cs typeface="Helvetica Neue"/>
                <a:sym typeface="Helvetica Neue"/>
              </a:rPr>
              <a:t>Readable prompt became { seq, ct }</a:t>
            </a:r>
            <a:endParaRPr/>
          </a:p>
        </p:txBody>
      </p:sp>
      <p:sp>
        <p:nvSpPr>
          <p:cNvPr id="266" name="Google Shape;266;p12"/>
          <p:cNvSpPr/>
          <p:nvPr/>
        </p:nvSpPr>
        <p:spPr>
          <a:xfrm>
            <a:off x="4638675" y="3009900"/>
            <a:ext cx="2724300" cy="5715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313" b="0">
                <a:solidFill>
                  <a:srgbClr val="52606D"/>
                </a:solidFill>
                <a:latin typeface="Helvetica Neue"/>
                <a:ea typeface="Helvetica Neue"/>
                <a:cs typeface="Helvetica Neue"/>
                <a:sym typeface="Helvetica Neue"/>
              </a:rPr>
              <a:t>The intended browser experience still worked while the TLS terminator lost content visibility.</a:t>
            </a:r>
            <a:endParaRPr/>
          </a:p>
        </p:txBody>
      </p:sp>
      <p:sp>
        <p:nvSpPr>
          <p:cNvPr id="267" name="Google Shape;267;p12"/>
          <p:cNvSpPr/>
          <p:nvPr/>
        </p:nvSpPr>
        <p:spPr>
          <a:xfrm>
            <a:off x="8362950" y="1752600"/>
            <a:ext cx="3372000" cy="1952700"/>
          </a:xfrm>
          <a:prstGeom prst="rect">
            <a:avLst/>
          </a:prstGeom>
          <a:solidFill>
            <a:srgbClr val="F2F4F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 name="Google Shape;268;p12"/>
          <p:cNvSpPr/>
          <p:nvPr/>
        </p:nvSpPr>
        <p:spPr>
          <a:xfrm>
            <a:off x="8362950" y="1752600"/>
            <a:ext cx="3372000" cy="76200"/>
          </a:xfrm>
          <a:prstGeom prst="rect">
            <a:avLst/>
          </a:prstGeom>
          <a:solidFill>
            <a:srgbClr val="1118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 name="Google Shape;269;p12"/>
          <p:cNvSpPr/>
          <p:nvPr/>
        </p:nvSpPr>
        <p:spPr>
          <a:xfrm>
            <a:off x="8591550" y="2009775"/>
            <a:ext cx="2667000" cy="2097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25" b="1">
                <a:solidFill>
                  <a:srgbClr val="111827"/>
                </a:solidFill>
                <a:latin typeface="Helvetica Neue"/>
                <a:ea typeface="Helvetica Neue"/>
                <a:cs typeface="Helvetica Neue"/>
                <a:sym typeface="Helvetica Neue"/>
              </a:rPr>
              <a:t>SECURITY ENGINEERING</a:t>
            </a:r>
            <a:endParaRPr/>
          </a:p>
        </p:txBody>
      </p:sp>
      <p:sp>
        <p:nvSpPr>
          <p:cNvPr id="270" name="Google Shape;270;p12"/>
          <p:cNvSpPr/>
          <p:nvPr/>
        </p:nvSpPr>
        <p:spPr>
          <a:xfrm>
            <a:off x="8591550" y="2352675"/>
            <a:ext cx="2724300" cy="552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800" b="1">
                <a:solidFill>
                  <a:srgbClr val="111827"/>
                </a:solidFill>
                <a:latin typeface="Helvetica Neue"/>
                <a:ea typeface="Helvetica Neue"/>
                <a:cs typeface="Helvetica Neue"/>
                <a:sym typeface="Helvetica Neue"/>
              </a:rPr>
              <a:t>Attacks improved the design</a:t>
            </a:r>
            <a:endParaRPr/>
          </a:p>
        </p:txBody>
      </p:sp>
      <p:sp>
        <p:nvSpPr>
          <p:cNvPr id="271" name="Google Shape;271;p12"/>
          <p:cNvSpPr/>
          <p:nvPr/>
        </p:nvSpPr>
        <p:spPr>
          <a:xfrm>
            <a:off x="8591550" y="3009900"/>
            <a:ext cx="2724300" cy="5715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313" b="0" dirty="0">
                <a:solidFill>
                  <a:srgbClr val="52606D"/>
                </a:solidFill>
                <a:latin typeface="Helvetica Neue"/>
                <a:ea typeface="Helvetica Neue"/>
                <a:cs typeface="Helvetica Neue"/>
                <a:sym typeface="Helvetica Neue"/>
              </a:rPr>
              <a:t>Red testing verified fail-closed behavior..</a:t>
            </a:r>
            <a:endParaRPr dirty="0"/>
          </a:p>
        </p:txBody>
      </p:sp>
      <p:sp>
        <p:nvSpPr>
          <p:cNvPr id="272" name="Google Shape;272;p12"/>
          <p:cNvSpPr/>
          <p:nvPr/>
        </p:nvSpPr>
        <p:spPr>
          <a:xfrm>
            <a:off x="457200" y="3981450"/>
            <a:ext cx="2476500" cy="2097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125" b="1">
                <a:solidFill>
                  <a:srgbClr val="3D8DFF"/>
                </a:solidFill>
                <a:latin typeface="Helvetica Neue"/>
                <a:ea typeface="Helvetica Neue"/>
                <a:cs typeface="Helvetica Neue"/>
                <a:sym typeface="Helvetica Neue"/>
              </a:rPr>
              <a:t>WHY THIS MATTERS</a:t>
            </a:r>
            <a:endParaRPr/>
          </a:p>
        </p:txBody>
      </p:sp>
      <p:cxnSp>
        <p:nvCxnSpPr>
          <p:cNvPr id="273" name="Google Shape;273;p12"/>
          <p:cNvCxnSpPr/>
          <p:nvPr/>
        </p:nvCxnSpPr>
        <p:spPr>
          <a:xfrm>
            <a:off x="457200" y="4295775"/>
            <a:ext cx="11277600" cy="900"/>
          </a:xfrm>
          <a:prstGeom prst="straightConnector1">
            <a:avLst/>
          </a:prstGeom>
          <a:noFill/>
          <a:ln w="9525" cap="flat" cmpd="sng">
            <a:solidFill>
              <a:srgbClr val="B8BCC4"/>
            </a:solidFill>
            <a:prstDash val="solid"/>
            <a:round/>
            <a:headEnd type="none" w="sm" len="sm"/>
            <a:tailEnd type="none" w="sm" len="sm"/>
          </a:ln>
        </p:spPr>
      </p:cxnSp>
      <p:sp>
        <p:nvSpPr>
          <p:cNvPr id="274" name="Google Shape;274;p12"/>
          <p:cNvSpPr/>
          <p:nvPr/>
        </p:nvSpPr>
        <p:spPr>
          <a:xfrm>
            <a:off x="457200" y="4533900"/>
            <a:ext cx="7048500" cy="6669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2100" b="1" dirty="0">
                <a:solidFill>
                  <a:srgbClr val="111827"/>
                </a:solidFill>
                <a:latin typeface="Helvetica Neue"/>
                <a:ea typeface="Helvetica Neue"/>
                <a:cs typeface="Helvetica Neue"/>
                <a:sym typeface="Helvetica Neue"/>
              </a:rPr>
              <a:t>Sensitive prompts can cross infrastructure that must route traffic securely.</a:t>
            </a:r>
            <a:endParaRPr dirty="0"/>
          </a:p>
        </p:txBody>
      </p:sp>
      <p:sp>
        <p:nvSpPr>
          <p:cNvPr id="275" name="Google Shape;275;p12"/>
          <p:cNvSpPr/>
          <p:nvPr/>
        </p:nvSpPr>
        <p:spPr>
          <a:xfrm>
            <a:off x="7981950" y="4533900"/>
            <a:ext cx="3753000" cy="685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350" b="0" dirty="0">
                <a:solidFill>
                  <a:srgbClr val="52606D"/>
                </a:solidFill>
                <a:latin typeface="Helvetica Neue"/>
                <a:ea typeface="Helvetica Neue"/>
                <a:cs typeface="Helvetica Neue"/>
                <a:sym typeface="Helvetica Neue"/>
              </a:rPr>
              <a:t>E2E Enc Prompt turns that architectural concern into a concrete, repeatable test—and shows both the value and the limits of adding an inner encryption boundary.</a:t>
            </a:r>
            <a:endParaRPr dirty="0"/>
          </a:p>
        </p:txBody>
      </p:sp>
      <p:sp>
        <p:nvSpPr>
          <p:cNvPr id="276" name="Google Shape;276;p12"/>
          <p:cNvSpPr/>
          <p:nvPr/>
        </p:nvSpPr>
        <p:spPr>
          <a:xfrm>
            <a:off x="457200" y="5638800"/>
            <a:ext cx="11277600" cy="485700"/>
          </a:xfrm>
          <a:prstGeom prst="rect">
            <a:avLst/>
          </a:prstGeom>
          <a:solidFill>
            <a:srgbClr val="11182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 name="Google Shape;277;p12"/>
          <p:cNvSpPr/>
          <p:nvPr/>
        </p:nvSpPr>
        <p:spPr>
          <a:xfrm>
            <a:off x="666750" y="5781675"/>
            <a:ext cx="10839600" cy="22860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None/>
            </a:pPr>
            <a:r>
              <a:rPr lang="en-US" sz="1500" b="1" dirty="0">
                <a:solidFill>
                  <a:srgbClr val="FFFFFF"/>
                </a:solidFill>
                <a:latin typeface="Helvetica Neue"/>
                <a:ea typeface="Helvetica Neue"/>
                <a:cs typeface="Helvetica Neue"/>
                <a:sym typeface="Helvetica Neue"/>
              </a:rPr>
              <a:t>TLS secures the connection. </a:t>
            </a:r>
            <a:r>
              <a:rPr lang="en-US" sz="1500" b="1" dirty="0" err="1">
                <a:solidFill>
                  <a:srgbClr val="FFFFFF"/>
                </a:solidFill>
                <a:latin typeface="Helvetica Neue"/>
                <a:ea typeface="Helvetica Neue"/>
                <a:cs typeface="Helvetica Neue"/>
                <a:sym typeface="Helvetica Neue"/>
              </a:rPr>
              <a:t>EchoVault</a:t>
            </a:r>
            <a:r>
              <a:rPr lang="en-US" sz="1500" b="1" dirty="0">
                <a:solidFill>
                  <a:srgbClr val="FFFFFF"/>
                </a:solidFill>
                <a:latin typeface="Helvetica Neue"/>
                <a:ea typeface="Helvetica Neue"/>
                <a:cs typeface="Helvetica Neue"/>
                <a:sym typeface="Helvetica Neue"/>
              </a:rPr>
              <a:t> controls where plaintext begins.</a:t>
            </a: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11827"/>
        </a:solidFill>
        <a:effectLst/>
      </p:bgPr>
    </p:bg>
    <p:spTree>
      <p:nvGrpSpPr>
        <p:cNvPr id="1" name="Shape 282"/>
        <p:cNvGrpSpPr/>
        <p:nvPr/>
      </p:nvGrpSpPr>
      <p:grpSpPr>
        <a:xfrm>
          <a:off x="0" y="0"/>
          <a:ext cx="0" cy="0"/>
          <a:chOff x="0" y="0"/>
          <a:chExt cx="0" cy="0"/>
        </a:xfrm>
      </p:grpSpPr>
      <p:sp>
        <p:nvSpPr>
          <p:cNvPr id="283" name="Google Shape;283;p13"/>
          <p:cNvSpPr/>
          <p:nvPr/>
        </p:nvSpPr>
        <p:spPr>
          <a:xfrm>
            <a:off x="0" y="0"/>
            <a:ext cx="12192000" cy="95400"/>
          </a:xfrm>
          <a:prstGeom prst="rect">
            <a:avLst/>
          </a:prstGeom>
          <a:solidFill>
            <a:srgbClr val="3D8D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4" name="Google Shape;284;p13"/>
          <p:cNvSpPr/>
          <p:nvPr/>
        </p:nvSpPr>
        <p:spPr>
          <a:xfrm>
            <a:off x="685800" y="666750"/>
            <a:ext cx="4762500" cy="2478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275" b="1">
                <a:solidFill>
                  <a:srgbClr val="6DCBF4"/>
                </a:solidFill>
                <a:latin typeface="Helvetica Neue"/>
                <a:ea typeface="Helvetica Neue"/>
                <a:cs typeface="Helvetica Neue"/>
                <a:sym typeface="Helvetica Neue"/>
              </a:rPr>
              <a:t>CYBER 210 · NETWORK SECURITY</a:t>
            </a:r>
            <a:endParaRPr/>
          </a:p>
        </p:txBody>
      </p:sp>
      <p:sp>
        <p:nvSpPr>
          <p:cNvPr id="285" name="Google Shape;285;p13"/>
          <p:cNvSpPr/>
          <p:nvPr/>
        </p:nvSpPr>
        <p:spPr>
          <a:xfrm>
            <a:off x="685800" y="1657350"/>
            <a:ext cx="8572500" cy="8955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5250" b="1">
                <a:solidFill>
                  <a:srgbClr val="FFFFFF"/>
                </a:solidFill>
                <a:latin typeface="Helvetica Neue"/>
                <a:ea typeface="Helvetica Neue"/>
                <a:cs typeface="Helvetica Neue"/>
                <a:sym typeface="Helvetica Neue"/>
              </a:rPr>
              <a:t>Thank you.</a:t>
            </a:r>
            <a:endParaRPr/>
          </a:p>
        </p:txBody>
      </p:sp>
      <p:sp>
        <p:nvSpPr>
          <p:cNvPr id="286" name="Google Shape;286;p13"/>
          <p:cNvSpPr/>
          <p:nvPr/>
        </p:nvSpPr>
        <p:spPr>
          <a:xfrm>
            <a:off x="685800" y="2724150"/>
            <a:ext cx="8572500" cy="5526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2850" b="1">
                <a:solidFill>
                  <a:srgbClr val="6DCBF4"/>
                </a:solidFill>
                <a:latin typeface="Helvetica Neue"/>
                <a:ea typeface="Helvetica Neue"/>
                <a:cs typeface="Helvetica Neue"/>
                <a:sym typeface="Helvetica Neue"/>
              </a:rPr>
              <a:t>Any questions?</a:t>
            </a:r>
            <a:endParaRPr/>
          </a:p>
        </p:txBody>
      </p:sp>
      <p:cxnSp>
        <p:nvCxnSpPr>
          <p:cNvPr id="287" name="Google Shape;287;p13"/>
          <p:cNvCxnSpPr/>
          <p:nvPr/>
        </p:nvCxnSpPr>
        <p:spPr>
          <a:xfrm>
            <a:off x="685800" y="3857625"/>
            <a:ext cx="10820400" cy="900"/>
          </a:xfrm>
          <a:prstGeom prst="straightConnector1">
            <a:avLst/>
          </a:prstGeom>
          <a:noFill/>
          <a:ln w="9525" cap="flat" cmpd="sng">
            <a:solidFill>
              <a:srgbClr val="B8BCC4"/>
            </a:solidFill>
            <a:prstDash val="solid"/>
            <a:round/>
            <a:headEnd type="none" w="sm" len="sm"/>
            <a:tailEnd type="none" w="sm" len="sm"/>
          </a:ln>
        </p:spPr>
      </p:cxnSp>
      <p:sp>
        <p:nvSpPr>
          <p:cNvPr id="288" name="Google Shape;288;p13"/>
          <p:cNvSpPr/>
          <p:nvPr/>
        </p:nvSpPr>
        <p:spPr>
          <a:xfrm>
            <a:off x="685800" y="4257675"/>
            <a:ext cx="7239000" cy="3240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650" b="0" dirty="0">
                <a:solidFill>
                  <a:srgbClr val="FFFFFF"/>
                </a:solidFill>
                <a:latin typeface="Helvetica Neue"/>
                <a:ea typeface="Helvetica Neue"/>
                <a:cs typeface="Helvetica Neue"/>
                <a:sym typeface="Helvetica Neue"/>
              </a:rPr>
              <a:t>Protecting </a:t>
            </a:r>
            <a:r>
              <a:rPr lang="en-US" sz="1650" b="0">
                <a:solidFill>
                  <a:srgbClr val="FFFFFF"/>
                </a:solidFill>
                <a:latin typeface="Helvetica Neue"/>
                <a:ea typeface="Helvetica Neue"/>
                <a:cs typeface="Helvetica Neue"/>
                <a:sym typeface="Helvetica Neue"/>
              </a:rPr>
              <a:t>LLM prompt </a:t>
            </a:r>
            <a:r>
              <a:rPr lang="en-US" sz="1650" b="0" dirty="0">
                <a:solidFill>
                  <a:srgbClr val="FFFFFF"/>
                </a:solidFill>
                <a:latin typeface="Helvetica Neue"/>
                <a:ea typeface="Helvetica Neue"/>
                <a:cs typeface="Helvetica Neue"/>
                <a:sym typeface="Helvetica Neue"/>
              </a:rPr>
              <a:t>traffic beyond TLS</a:t>
            </a:r>
            <a:endParaRPr dirty="0"/>
          </a:p>
        </p:txBody>
      </p:sp>
      <p:sp>
        <p:nvSpPr>
          <p:cNvPr id="289" name="Google Shape;289;p13"/>
          <p:cNvSpPr/>
          <p:nvPr/>
        </p:nvSpPr>
        <p:spPr>
          <a:xfrm>
            <a:off x="685800" y="5057775"/>
            <a:ext cx="7239000" cy="2667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US" sz="1275" b="0">
                <a:solidFill>
                  <a:srgbClr val="B8BCC4"/>
                </a:solidFill>
                <a:latin typeface="Helvetica Neue"/>
                <a:ea typeface="Helvetica Neue"/>
                <a:cs typeface="Helvetica Neue"/>
                <a:sym typeface="Helvetica Neue"/>
              </a:rPr>
              <a:t>Aura Gaines · Cameron Faulkner · Fil Dziembowski</a:t>
            </a:r>
            <a:endParaRPr/>
          </a:p>
        </p:txBody>
      </p:sp>
      <p:sp>
        <p:nvSpPr>
          <p:cNvPr id="290" name="Google Shape;290;p13"/>
          <p:cNvSpPr/>
          <p:nvPr/>
        </p:nvSpPr>
        <p:spPr>
          <a:xfrm>
            <a:off x="10953750" y="6191250"/>
            <a:ext cx="552600" cy="209700"/>
          </a:xfrm>
          <a:prstGeom prst="rect">
            <a:avLst/>
          </a:prstGeom>
          <a:noFill/>
          <a:ln>
            <a:noFill/>
          </a:ln>
        </p:spPr>
        <p:txBody>
          <a:bodyPr spcFirstLastPara="1" wrap="square" lIns="0" tIns="0" rIns="0" bIns="0" anchor="t" anchorCtr="0">
            <a:noAutofit/>
          </a:bodyPr>
          <a:lstStyle/>
          <a:p>
            <a:pPr marL="0" marR="0" lvl="0" indent="0" algn="r" rtl="0">
              <a:spcBef>
                <a:spcPts val="0"/>
              </a:spcBef>
              <a:spcAft>
                <a:spcPts val="0"/>
              </a:spcAft>
              <a:buNone/>
            </a:pPr>
            <a:r>
              <a:rPr lang="en-US" sz="900">
                <a:solidFill>
                  <a:srgbClr val="B8BCC4"/>
                </a:solidFill>
                <a:latin typeface="Helvetica Neue"/>
                <a:ea typeface="Helvetica Neue"/>
                <a:cs typeface="Helvetica Neue"/>
                <a:sym typeface="Helvetica Neue"/>
              </a:rPr>
              <a:t>11</a:t>
            </a:r>
            <a:endParaRP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130</TotalTime>
  <Words>2057</Words>
  <Application>Microsoft Office PowerPoint</Application>
  <PresentationFormat>Widescreen</PresentationFormat>
  <Paragraphs>220</Paragraphs>
  <Slides>11</Slides>
  <Notes>11</Notes>
  <HiddenSlides>0</HiddenSlides>
  <MMClips>4</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Calibri</vt:lpstr>
      <vt:lpstr>Helvetica Neue</vt:lpstr>
      <vt:lpstr>Arial</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vbox</dc:creator>
  <cp:lastModifiedBy>vbox</cp:lastModifiedBy>
  <cp:revision>4</cp:revision>
  <dcterms:modified xsi:type="dcterms:W3CDTF">2026-07-23T01:08:40Z</dcterms:modified>
</cp:coreProperties>
</file>